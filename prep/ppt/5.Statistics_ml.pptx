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82" r:id="rId2"/>
    <p:sldId id="291" r:id="rId3"/>
    <p:sldId id="292" r:id="rId4"/>
    <p:sldId id="293" r:id="rId5"/>
    <p:sldId id="294" r:id="rId6"/>
    <p:sldId id="295" r:id="rId7"/>
    <p:sldId id="296" r:id="rId8"/>
    <p:sldId id="297" r:id="rId9"/>
    <p:sldId id="298" r:id="rId10"/>
    <p:sldId id="299" r:id="rId11"/>
    <p:sldId id="290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Untitled Section" id="{075799C5-F00F-42BC-9AAB-BE33D3B87F2E}">
          <p14:sldIdLst>
            <p14:sldId id="282"/>
            <p14:sldId id="291"/>
            <p14:sldId id="292"/>
            <p14:sldId id="293"/>
            <p14:sldId id="294"/>
            <p14:sldId id="295"/>
            <p14:sldId id="296"/>
            <p14:sldId id="297"/>
            <p14:sldId id="298"/>
            <p14:sldId id="299"/>
            <p14:sldId id="290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5F5F5"/>
    <a:srgbClr val="286D80"/>
    <a:srgbClr val="F1F5E7"/>
    <a:srgbClr val="FEF4E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73601" autoAdjust="0"/>
  </p:normalViewPr>
  <p:slideViewPr>
    <p:cSldViewPr snapToGrid="0" snapToObjects="1">
      <p:cViewPr varScale="1">
        <p:scale>
          <a:sx n="54" d="100"/>
          <a:sy n="54" d="100"/>
        </p:scale>
        <p:origin x="1640" y="5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860976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We use descriptive statistics to understand California housing prices.</a:t>
            </a:r>
          </a:p>
          <a:p>
            <a:r>
              <a:rPr lang="en-US" dirty="0"/>
              <a:t>Inferential statistics helps us predict prices for unseen houses.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7097711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California house prices house age [41,21,52,52,27]</a:t>
            </a:r>
          </a:p>
          <a:p>
            <a:r>
              <a:rPr lang="en-US" dirty="0"/>
              <a:t>California house prices contain extreme values.</a:t>
            </a:r>
          </a:p>
          <a:p>
            <a:r>
              <a:rPr lang="en-US" dirty="0"/>
              <a:t>The mean gets skewed by very old houses.</a:t>
            </a:r>
          </a:p>
          <a:p>
            <a:r>
              <a:rPr lang="en-US" dirty="0"/>
              <a:t>Median is more robust and used in the dataset.</a:t>
            </a:r>
          </a:p>
          <a:p>
            <a:r>
              <a:rPr lang="en-US" sz="1200" dirty="0"/>
              <a:t>Mean vs Median (Outliers)</a:t>
            </a: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3040895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Range shows older vs newer houses.</a:t>
            </a:r>
          </a:p>
          <a:p>
            <a:r>
              <a:rPr lang="en-US" dirty="0"/>
              <a:t>Variance shows how widely house age differ across California regions.</a:t>
            </a:r>
          </a:p>
          <a:p>
            <a:r>
              <a:rPr lang="en-US" dirty="0"/>
              <a:t>High variance affects model stability.</a:t>
            </a:r>
          </a:p>
          <a:p>
            <a:r>
              <a:rPr lang="en-US" dirty="0"/>
              <a:t>“These bars show how far each value deviates from its mean in standardized units</a:t>
            </a:r>
          </a:p>
          <a:p>
            <a:r>
              <a:rPr lang="en-US" dirty="0"/>
              <a:t>Prevents features with large values from </a:t>
            </a:r>
            <a:r>
              <a:rPr lang="en-US" b="1" dirty="0"/>
              <a:t>dominating learning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7606232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>
              <a:xfrm>
                <a:off x="685800" y="4400550"/>
                <a:ext cx="5486400" cy="3600450"/>
              </a:xfrm>
              <a:prstGeom prst="rect">
                <a:avLst/>
              </a:prstGeom>
            </p:spPr>
            <p:txBody>
              <a:bodyPr/>
              <a:lstStyle/>
              <a:p>
                <a:r>
                  <a:rPr lang="en-IN" dirty="0"/>
                  <a:t>IQR helps detect extreme house ages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IN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The range 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𝑄</m:t>
                        </m:r>
                      </m:e>
                      <m:sub>
                        <m:r>
                          <a:rPr lang="ar-AE" sz="1200" i="0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1</m:t>
                        </m:r>
                      </m:sub>
                    </m:sSub>
                    <m:r>
                      <a:rPr lang="ar-AE" sz="1200" i="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−</m:t>
                    </m:r>
                    <m:r>
                      <a:rPr lang="ar-AE" sz="1200" i="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1</m:t>
                    </m:r>
                    <m:r>
                      <a:rPr lang="ar-AE" sz="1200" i="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.</m:t>
                    </m:r>
                    <m:r>
                      <a:rPr lang="ar-AE" sz="1200" i="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5</m:t>
                    </m:r>
                    <m:r>
                      <a:rPr lang="ar-AE" sz="1200" i="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×</m:t>
                    </m:r>
                    <m:r>
                      <a:rPr lang="ar-AE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𝐼𝑄𝑅</m:t>
                    </m:r>
                    <m:r>
                      <a:rPr lang="ar-AE" sz="1200" i="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 </m:t>
                    </m:r>
                    <m:r>
                      <m:rPr>
                        <m:nor/>
                      </m:rPr>
                      <a:rPr lang="en-IN" sz="1200" b="0" i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rPr>
                      <m:t>to</m:t>
                    </m:r>
                    <m:r>
                      <a:rPr lang="en-IN" sz="1200" b="0" i="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 </m:t>
                    </m:r>
                    <m:sSub>
                      <m:sSubPr>
                        <m:ctrlPr>
                          <a:rPr lang="ar-AE" sz="1200" b="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ar-AE" sz="1200" b="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𝑄</m:t>
                        </m:r>
                      </m:e>
                      <m:sub>
                        <m:r>
                          <a:rPr lang="ar-AE" sz="1200" b="0" i="0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3</m:t>
                        </m:r>
                      </m:sub>
                    </m:sSub>
                    <m:r>
                      <a:rPr lang="ar-AE" sz="1200" b="0" i="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+</m:t>
                    </m:r>
                    <m:r>
                      <a:rPr lang="ar-AE" sz="1200" b="0" i="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1</m:t>
                    </m:r>
                    <m:r>
                      <a:rPr lang="ar-AE" sz="1200" b="0" i="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.</m:t>
                    </m:r>
                    <m:r>
                      <a:rPr lang="ar-AE" sz="1200" b="0" i="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5</m:t>
                    </m:r>
                    <m:r>
                      <a:rPr lang="ar-AE" sz="1200" b="0" i="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×</m:t>
                    </m:r>
                    <m:r>
                      <a:rPr lang="ar-AE" sz="1200" b="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𝐼𝑄𝑅</m:t>
                    </m:r>
                  </m:oMath>
                </a14:m>
                <a:r>
                  <a:rPr lang="en-IN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are considered outliers</a:t>
                </a:r>
                <a:endParaRPr lang="en-IN" dirty="0"/>
              </a:p>
              <a:p>
                <a:r>
                  <a:rPr lang="en-IN" dirty="0"/>
                  <a:t>Outliers are often removed or capped before training.</a:t>
                </a:r>
              </a:p>
              <a:p>
                <a:r>
                  <a:rPr lang="en-IN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it focuses on the central 50% of the data which provides a clearer understanding of its true distribution.</a:t>
                </a:r>
                <a:endParaRPr lang="en-IN" dirty="0"/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>
              <a:xfrm>
                <a:off x="685800" y="4400550"/>
                <a:ext cx="5486400" cy="3600450"/>
              </a:xfrm>
              <a:prstGeom prst="rect">
                <a:avLst/>
              </a:prstGeom>
            </p:spPr>
            <p:txBody>
              <a:bodyPr/>
              <a:lstStyle/>
              <a:p>
                <a:r>
                  <a:rPr lang="en-IN" dirty="0"/>
                  <a:t>IQR helps detect extreme house ages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IN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The range </a:t>
                </a:r>
                <a:r>
                  <a:rPr lang="ar-AE" sz="1200" i="0" kern="1200">
                    <a:solidFill>
                      <a:schemeClr val="tx1"/>
                    </a:solidFill>
                    <a:latin typeface="Cambria Math" panose="02040503050406030204" pitchFamily="18" charset="0"/>
                    <a:ea typeface="+mn-ea"/>
                    <a:cs typeface="+mn-cs"/>
                  </a:rPr>
                  <a:t>𝑄_1−1.5×𝐼𝑄𝑅 </a:t>
                </a:r>
                <a:r>
                  <a:rPr lang="en-IN" sz="1200" b="0" i="0" kern="1200">
                    <a:solidFill>
                      <a:schemeClr val="tx1"/>
                    </a:solidFill>
                    <a:latin typeface="Cambria Math" panose="02040503050406030204" pitchFamily="18" charset="0"/>
                    <a:ea typeface="+mn-ea"/>
                    <a:cs typeface="+mn-cs"/>
                  </a:rPr>
                  <a:t>"to" </a:t>
                </a:r>
                <a:r>
                  <a:rPr lang="ar-AE" sz="1200" b="0" i="0" kern="1200">
                    <a:solidFill>
                      <a:schemeClr val="tx1"/>
                    </a:solidFill>
                    <a:latin typeface="Cambria Math" panose="02040503050406030204" pitchFamily="18" charset="0"/>
                    <a:ea typeface="+mn-ea"/>
                    <a:cs typeface="+mn-cs"/>
                  </a:rPr>
                  <a:t>𝑄_3+1.5×𝐼𝑄𝑅</a:t>
                </a:r>
                <a:r>
                  <a:rPr lang="en-IN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are considered outliers</a:t>
                </a:r>
                <a:endParaRPr lang="en-IN" dirty="0"/>
              </a:p>
              <a:p>
                <a:r>
                  <a:rPr lang="en-IN" dirty="0"/>
                  <a:t>Outliers are often removed or capped before training.</a:t>
                </a:r>
              </a:p>
              <a:p>
                <a:r>
                  <a:rPr lang="en-IN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it focuses on the central 50% of the data which provides a clearer understanding of its true distribution.</a:t>
                </a:r>
                <a:endParaRPr lang="en-IN" dirty="0"/>
              </a:p>
              <a:p>
                <a:endParaRPr lang="en-IN" dirty="0"/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0423114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“Skewness tells us whether the data leans left or right, while kurtosis tells us how extreme the tails are.</a:t>
            </a:r>
            <a:br>
              <a:rPr lang="en-US" dirty="0"/>
            </a:br>
            <a:r>
              <a:rPr lang="en-US" dirty="0"/>
              <a:t>Both help us understand whether transformations or outlier handling are needed before training ML models.”</a:t>
            </a:r>
          </a:p>
          <a:p>
            <a:endParaRPr lang="en-US" b="1" dirty="0"/>
          </a:p>
          <a:p>
            <a:r>
              <a:rPr lang="en-US" b="1" dirty="0"/>
              <a:t>Skewness Asymmetry</a:t>
            </a:r>
            <a:r>
              <a:rPr lang="en-US" dirty="0"/>
              <a:t> of the data distribution</a:t>
            </a:r>
          </a:p>
          <a:p>
            <a:r>
              <a:rPr lang="en-US" dirty="0"/>
              <a:t>Direction of the tail:</a:t>
            </a:r>
          </a:p>
          <a:p>
            <a:r>
              <a:rPr lang="en-US" b="1" dirty="0"/>
              <a:t>Positive skew</a:t>
            </a:r>
            <a:r>
              <a:rPr lang="en-US" dirty="0"/>
              <a:t> → right tail longer</a:t>
            </a:r>
          </a:p>
          <a:p>
            <a:r>
              <a:rPr lang="en-US" b="1" dirty="0"/>
              <a:t>Negative skew</a:t>
            </a:r>
            <a:r>
              <a:rPr lang="en-US" dirty="0"/>
              <a:t> → left tail longer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8486955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We use descriptive statistics to understand California housing prices.</a:t>
            </a:r>
          </a:p>
          <a:p>
            <a:r>
              <a:rPr lang="en-US" dirty="0"/>
              <a:t>Inferential statistics helps us predict prices for unseen houses.</a:t>
            </a:r>
          </a:p>
          <a:p>
            <a:endParaRPr lang="en-US" dirty="0"/>
          </a:p>
          <a:p>
            <a:r>
              <a:rPr lang="en-US" b="1" dirty="0"/>
              <a:t>In the California housing problem, we do not observe prices for every house in the state.</a:t>
            </a:r>
            <a:br>
              <a:rPr lang="en-US" dirty="0"/>
            </a:br>
            <a:r>
              <a:rPr lang="en-US" dirty="0"/>
              <a:t>Instead, we train models on a sampled dataset of regions and households.</a:t>
            </a:r>
            <a:br>
              <a:rPr lang="en-US" dirty="0"/>
            </a:br>
            <a:r>
              <a:rPr lang="en-US" dirty="0"/>
              <a:t>Inferential statistics helps us estimate population-level trends, such as average house prices.</a:t>
            </a:r>
            <a:br>
              <a:rPr lang="en-US" dirty="0"/>
            </a:br>
            <a:r>
              <a:rPr lang="en-US" dirty="0"/>
              <a:t>It allows us to quantify how confident we are in these estimates.</a:t>
            </a:r>
            <a:br>
              <a:rPr lang="en-US" dirty="0"/>
            </a:br>
            <a:r>
              <a:rPr lang="en-US" dirty="0"/>
              <a:t>This ensures our model predictions generalize to unseen areas in California.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288039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Population represents all houses in California.</a:t>
            </a:r>
          </a:p>
          <a:p>
            <a:r>
              <a:rPr lang="en-US" dirty="0"/>
              <a:t>Sample is the dataset we collect.</a:t>
            </a:r>
          </a:p>
          <a:p>
            <a:r>
              <a:rPr lang="en-US" dirty="0"/>
              <a:t>Train-test split simulates real-world deployment.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0100029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rPr lang="en-US" b="1" dirty="0"/>
              <a:t>Formulating the Hypotheses (Correct Way)</a:t>
            </a:r>
          </a:p>
          <a:p>
            <a:pPr>
              <a:buNone/>
            </a:pPr>
            <a:r>
              <a:rPr lang="en-US" b="1" dirty="0"/>
              <a:t>Null Hypothesis (H₀)</a:t>
            </a:r>
          </a:p>
          <a:p>
            <a:pPr>
              <a:buNone/>
            </a:pPr>
            <a:r>
              <a:rPr lang="en-US" i="1" dirty="0"/>
              <a:t>Nearby restaurants do not affect housing prices</a:t>
            </a:r>
            <a:br>
              <a:rPr lang="en-US" dirty="0"/>
            </a:br>
            <a:r>
              <a:rPr lang="en-US" dirty="0"/>
              <a:t>(or)</a:t>
            </a:r>
            <a:br>
              <a:rPr lang="en-US" dirty="0"/>
            </a:br>
            <a:r>
              <a:rPr lang="en-US" dirty="0"/>
              <a:t>Adding the feature </a:t>
            </a:r>
            <a:r>
              <a:rPr lang="en-US" b="1" dirty="0"/>
              <a:t>does not improve model performance</a:t>
            </a:r>
            <a:endParaRPr lang="en-US" dirty="0"/>
          </a:p>
          <a:p>
            <a:pPr>
              <a:buNone/>
            </a:pPr>
            <a:r>
              <a:rPr lang="en-US" b="1" dirty="0"/>
              <a:t>Alternative Hypothesis (H₁)</a:t>
            </a:r>
          </a:p>
          <a:p>
            <a:pPr>
              <a:buNone/>
            </a:pPr>
            <a:r>
              <a:rPr lang="en-US" i="1" dirty="0"/>
              <a:t>Nearby restaurants affect housing prices</a:t>
            </a:r>
            <a:br>
              <a:rPr lang="en-US" dirty="0"/>
            </a:br>
            <a:r>
              <a:rPr lang="en-US" dirty="0"/>
              <a:t>(or)</a:t>
            </a:r>
            <a:br>
              <a:rPr lang="en-US" dirty="0"/>
            </a:br>
            <a:r>
              <a:rPr lang="en-US" dirty="0"/>
              <a:t>Adding the feature </a:t>
            </a:r>
            <a:r>
              <a:rPr lang="en-US" b="1" dirty="0"/>
              <a:t>improves model performance</a:t>
            </a:r>
          </a:p>
          <a:p>
            <a:pPr>
              <a:buNone/>
            </a:pPr>
            <a:endParaRPr lang="en-US" b="1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All hypothesis tests compare </a:t>
            </a:r>
            <a:r>
              <a:rPr lang="en-US" b="1" dirty="0"/>
              <a:t>sample-based estimates</a:t>
            </a:r>
            <a:r>
              <a:rPr lang="en-US" dirty="0"/>
              <a:t> against a reference</a:t>
            </a:r>
          </a:p>
          <a:p>
            <a:pPr>
              <a:buNone/>
            </a:pPr>
            <a:r>
              <a:rPr lang="en-US" dirty="0"/>
              <a:t>The population mean μ is that reference.</a:t>
            </a:r>
          </a:p>
          <a:p>
            <a:pPr>
              <a:buNone/>
            </a:pPr>
            <a:r>
              <a:rPr lang="en-US" dirty="0"/>
              <a:t>We test whether adding </a:t>
            </a:r>
            <a:r>
              <a:rPr lang="en-US" i="1" dirty="0"/>
              <a:t>“nearby restaurants”</a:t>
            </a:r>
            <a:r>
              <a:rPr lang="en-US" dirty="0"/>
              <a:t> shifts the mean prediction </a:t>
            </a:r>
            <a:r>
              <a:rPr lang="en-US" b="1" dirty="0"/>
              <a:t>away from μ</a:t>
            </a:r>
            <a:endParaRPr lang="en-US" dirty="0"/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8707507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Point estimate gives a single predicted price.</a:t>
            </a:r>
          </a:p>
          <a:p>
            <a:r>
              <a:rPr lang="en-US" dirty="0"/>
              <a:t>Confidence intervals express uncertainty.</a:t>
            </a:r>
          </a:p>
          <a:p>
            <a:r>
              <a:rPr lang="en-US" dirty="0"/>
              <a:t>Important for risk-aware predictions.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6470562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We do </a:t>
            </a:r>
            <a:r>
              <a:rPr lang="en-US" b="1" dirty="0"/>
              <a:t>not</a:t>
            </a:r>
            <a:r>
              <a:rPr lang="en-US" dirty="0"/>
              <a:t> know the true population value (e.g., average house price in California).</a:t>
            </a:r>
          </a:p>
          <a:p>
            <a:r>
              <a:rPr lang="en-US" dirty="0"/>
              <a:t>We take a </a:t>
            </a:r>
            <a:r>
              <a:rPr lang="en-US" b="1" dirty="0"/>
              <a:t>sample</a:t>
            </a:r>
            <a:r>
              <a:rPr lang="en-US" dirty="0"/>
              <a:t> of houses.</a:t>
            </a:r>
          </a:p>
          <a:p>
            <a:r>
              <a:rPr lang="en-US" dirty="0"/>
              <a:t>We compute </a:t>
            </a:r>
            <a:r>
              <a:rPr lang="en-US" b="1" dirty="0"/>
              <a:t>one number</a:t>
            </a:r>
            <a:r>
              <a:rPr lang="en-US" dirty="0"/>
              <a:t> from the sample.</a:t>
            </a:r>
          </a:p>
          <a:p>
            <a:r>
              <a:rPr lang="en-US" dirty="0"/>
              <a:t>That number is our </a:t>
            </a:r>
            <a:r>
              <a:rPr lang="en-US" b="1" dirty="0"/>
              <a:t>best guess</a:t>
            </a:r>
            <a:r>
              <a:rPr lang="en-US" dirty="0"/>
              <a:t> of the population value.</a:t>
            </a:r>
          </a:p>
          <a:p>
            <a:r>
              <a:rPr lang="en-US" dirty="0"/>
              <a:t>That single “best guess” is a </a:t>
            </a:r>
            <a:r>
              <a:rPr lang="en-US" b="1" dirty="0"/>
              <a:t>point estimate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In the California housing example, instead of saying the average house price is exactly </a:t>
            </a:r>
            <a:r>
              <a:rPr lang="en-US" b="1" dirty="0"/>
              <a:t>$520k</a:t>
            </a:r>
            <a:r>
              <a:rPr lang="en-US" dirty="0"/>
              <a:t>, we acknowledge uncertainty and estimate a range such as </a:t>
            </a:r>
            <a:r>
              <a:rPr lang="en-US" b="1" dirty="0"/>
              <a:t>$500k to $540k</a:t>
            </a:r>
            <a:r>
              <a:rPr lang="en-US" dirty="0"/>
              <a:t>.</a:t>
            </a:r>
          </a:p>
          <a:p>
            <a:r>
              <a:rPr lang="en-US" dirty="0"/>
              <a:t>In machine learning, interval estimation is important because models trained on different samples can produce slightly different results.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2298976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4D8E10-9657-7F0A-7165-013FD9E05F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E90C33B-FF47-48E1-EB9B-1A759C9E9BD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1EED4D6-31DB-C440-8536-4F864F385D4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B0E76C-F12F-E7E2-D8C4-F857AFF2AF7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6069709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BE12F57E-A79B-23D7-B8F4-E70E5DD102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30066"/>
            <a:ext cx="9144000" cy="910889"/>
          </a:xfrm>
          <a:solidFill>
            <a:srgbClr val="EDEBDF"/>
          </a:solidFill>
        </p:spPr>
        <p:txBody>
          <a:bodyPr>
            <a:normAutofit/>
          </a:bodyPr>
          <a:lstStyle/>
          <a:p>
            <a:r>
              <a:rPr lang="en-IN" sz="3200" b="1" dirty="0">
                <a:solidFill>
                  <a:schemeClr val="tx2"/>
                </a:solidFill>
              </a:rPr>
              <a:t>Statistics and Its Types</a:t>
            </a:r>
            <a:endParaRPr sz="3200" b="1" dirty="0">
              <a:solidFill>
                <a:schemeClr val="tx2"/>
              </a:solidFill>
            </a:endParaRPr>
          </a:p>
        </p:txBody>
      </p:sp>
      <p:sp>
        <p:nvSpPr>
          <p:cNvPr id="5" name="Arrow: Pentagon 4">
            <a:extLst>
              <a:ext uri="{FF2B5EF4-FFF2-40B4-BE49-F238E27FC236}">
                <a16:creationId xmlns:a16="http://schemas.microsoft.com/office/drawing/2014/main" id="{095949BF-35B6-02E5-BC31-41348EE6D1C7}"/>
              </a:ext>
            </a:extLst>
          </p:cNvPr>
          <p:cNvSpPr/>
          <p:nvPr/>
        </p:nvSpPr>
        <p:spPr>
          <a:xfrm>
            <a:off x="0" y="6333498"/>
            <a:ext cx="914400" cy="524502"/>
          </a:xfrm>
          <a:prstGeom prst="homePlate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C6110ED6-CAC4-5619-A2AB-B471CA871069}"/>
              </a:ext>
            </a:extLst>
          </p:cNvPr>
          <p:cNvSpPr>
            <a:spLocks noGrp="1"/>
          </p:cNvSpPr>
          <p:nvPr/>
        </p:nvSpPr>
        <p:spPr>
          <a:xfrm>
            <a:off x="914400" y="1149016"/>
            <a:ext cx="7213119" cy="91088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sz="1800" dirty="0"/>
              <a:t>Descriptive Statistics</a:t>
            </a:r>
          </a:p>
          <a:p>
            <a:r>
              <a:rPr sz="1800" dirty="0"/>
              <a:t>Inferential Statistics</a:t>
            </a:r>
          </a:p>
          <a:p>
            <a:endParaRPr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B8FE2EB-0CB0-9E56-FFC0-E3EADEA5D1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135476"/>
            <a:ext cx="7213119" cy="4325482"/>
          </a:xfrm>
          <a:prstGeom prst="rect">
            <a:avLst/>
          </a:prstGeom>
          <a:ln>
            <a:solidFill>
              <a:schemeClr val="accent1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8635185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FF3ABDD6-7E9D-B161-E526-37F1530A1F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30066"/>
            <a:ext cx="9144000" cy="910889"/>
          </a:xfrm>
          <a:solidFill>
            <a:srgbClr val="EDEBDF"/>
          </a:solidFill>
        </p:spPr>
        <p:txBody>
          <a:bodyPr>
            <a:normAutofit/>
          </a:bodyPr>
          <a:lstStyle/>
          <a:p>
            <a:r>
              <a:rPr lang="en-IN" sz="3200" b="1" dirty="0">
                <a:solidFill>
                  <a:schemeClr val="tx2"/>
                </a:solidFill>
              </a:rPr>
              <a:t>Descriptive Statistics – Central Tendency</a:t>
            </a:r>
            <a:endParaRPr sz="3200" b="1" dirty="0">
              <a:solidFill>
                <a:schemeClr val="tx2"/>
              </a:solidFill>
            </a:endParaRPr>
          </a:p>
        </p:txBody>
      </p:sp>
      <p:sp>
        <p:nvSpPr>
          <p:cNvPr id="5" name="Arrow: Pentagon 4">
            <a:extLst>
              <a:ext uri="{FF2B5EF4-FFF2-40B4-BE49-F238E27FC236}">
                <a16:creationId xmlns:a16="http://schemas.microsoft.com/office/drawing/2014/main" id="{8D782FD2-C3D7-0119-CDC1-AD109D722121}"/>
              </a:ext>
            </a:extLst>
          </p:cNvPr>
          <p:cNvSpPr/>
          <p:nvPr/>
        </p:nvSpPr>
        <p:spPr>
          <a:xfrm>
            <a:off x="0" y="6333498"/>
            <a:ext cx="914400" cy="524502"/>
          </a:xfrm>
          <a:prstGeom prst="homePlate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F77721E-B800-69E7-1911-D3EAA31056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904" y="1336850"/>
            <a:ext cx="7667624" cy="4766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5296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99E65EE6-F86C-59BF-9AF8-AF17D6F616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30066"/>
            <a:ext cx="9144000" cy="910889"/>
          </a:xfrm>
          <a:solidFill>
            <a:srgbClr val="EDEBDF"/>
          </a:solidFill>
        </p:spPr>
        <p:txBody>
          <a:bodyPr>
            <a:normAutofit/>
          </a:bodyPr>
          <a:lstStyle/>
          <a:p>
            <a:r>
              <a:rPr lang="en-IN" sz="3200" b="1" dirty="0">
                <a:solidFill>
                  <a:schemeClr val="tx2"/>
                </a:solidFill>
              </a:rPr>
              <a:t>Measures of Spread</a:t>
            </a:r>
            <a:endParaRPr sz="3200" b="1" dirty="0">
              <a:solidFill>
                <a:schemeClr val="tx2"/>
              </a:solidFill>
            </a:endParaRPr>
          </a:p>
        </p:txBody>
      </p:sp>
      <p:sp>
        <p:nvSpPr>
          <p:cNvPr id="5" name="Arrow: Pentagon 4">
            <a:extLst>
              <a:ext uri="{FF2B5EF4-FFF2-40B4-BE49-F238E27FC236}">
                <a16:creationId xmlns:a16="http://schemas.microsoft.com/office/drawing/2014/main" id="{AB271851-59F1-4A99-2318-EE9682A45BD5}"/>
              </a:ext>
            </a:extLst>
          </p:cNvPr>
          <p:cNvSpPr/>
          <p:nvPr/>
        </p:nvSpPr>
        <p:spPr>
          <a:xfrm>
            <a:off x="0" y="6333498"/>
            <a:ext cx="914400" cy="524502"/>
          </a:xfrm>
          <a:prstGeom prst="homePlate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C2B1A1D-CA8E-AEA4-61ED-1EEF45F77E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0284" y="1038247"/>
            <a:ext cx="4150895" cy="288151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2516F09-7F77-9130-A4BF-7F57C66ECF9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2330" y="1038247"/>
            <a:ext cx="4043592" cy="300417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A439462-592A-F7EE-5F87-5E296AFF9F0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09530" y="4042418"/>
            <a:ext cx="4121649" cy="2291080"/>
          </a:xfrm>
          <a:prstGeom prst="rect">
            <a:avLst/>
          </a:prstGeom>
          <a:ln>
            <a:solidFill>
              <a:schemeClr val="accent1">
                <a:lumMod val="75000"/>
              </a:schemeClr>
            </a:solidFill>
          </a:ln>
        </p:spPr>
      </p:pic>
      <p:pic>
        <p:nvPicPr>
          <p:cNvPr id="9" name="table">
            <a:extLst>
              <a:ext uri="{FF2B5EF4-FFF2-40B4-BE49-F238E27FC236}">
                <a16:creationId xmlns:a16="http://schemas.microsoft.com/office/drawing/2014/main" id="{BEE46483-AB4C-DBCA-BD78-E41130FF452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0614" y="4097028"/>
            <a:ext cx="4121650" cy="22364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13636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B4E33BE9-ABB0-2B0F-986D-BCEB448BE1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30066"/>
            <a:ext cx="9144000" cy="910889"/>
          </a:xfrm>
          <a:solidFill>
            <a:srgbClr val="EDEBDF"/>
          </a:solidFill>
        </p:spPr>
        <p:txBody>
          <a:bodyPr>
            <a:normAutofit/>
          </a:bodyPr>
          <a:lstStyle/>
          <a:p>
            <a:r>
              <a:rPr lang="en-IN" sz="3200" b="1" dirty="0">
                <a:solidFill>
                  <a:schemeClr val="tx2"/>
                </a:solidFill>
              </a:rPr>
              <a:t>Interquartile Range (IQR)</a:t>
            </a:r>
            <a:endParaRPr sz="3200" b="1" dirty="0">
              <a:solidFill>
                <a:schemeClr val="tx2"/>
              </a:solidFill>
            </a:endParaRPr>
          </a:p>
        </p:txBody>
      </p:sp>
      <p:sp>
        <p:nvSpPr>
          <p:cNvPr id="5" name="Arrow: Pentagon 4">
            <a:extLst>
              <a:ext uri="{FF2B5EF4-FFF2-40B4-BE49-F238E27FC236}">
                <a16:creationId xmlns:a16="http://schemas.microsoft.com/office/drawing/2014/main" id="{D6F2E0C6-E51A-E5B4-61A0-FC67F4050E3C}"/>
              </a:ext>
            </a:extLst>
          </p:cNvPr>
          <p:cNvSpPr/>
          <p:nvPr/>
        </p:nvSpPr>
        <p:spPr>
          <a:xfrm>
            <a:off x="0" y="6333498"/>
            <a:ext cx="914400" cy="524502"/>
          </a:xfrm>
          <a:prstGeom prst="homePlate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95017C5-1094-3A71-372F-CB122A0016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4852" y="1213009"/>
            <a:ext cx="4524050" cy="3847397"/>
          </a:xfrm>
          <a:prstGeom prst="rect">
            <a:avLst/>
          </a:prstGeom>
          <a:ln>
            <a:noFill/>
          </a:ln>
        </p:spPr>
      </p:pic>
      <p:sp>
        <p:nvSpPr>
          <p:cNvPr id="7" name="TextBox 9">
            <a:extLst>
              <a:ext uri="{FF2B5EF4-FFF2-40B4-BE49-F238E27FC236}">
                <a16:creationId xmlns:a16="http://schemas.microsoft.com/office/drawing/2014/main" id="{FA970146-DD18-732A-65C6-90EC47E5805F}"/>
              </a:ext>
            </a:extLst>
          </p:cNvPr>
          <p:cNvSpPr txBox="1"/>
          <p:nvPr/>
        </p:nvSpPr>
        <p:spPr>
          <a:xfrm>
            <a:off x="5005312" y="1213009"/>
            <a:ext cx="3681488" cy="221599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fontAlgn="base">
              <a:spcAft>
                <a:spcPts val="1800"/>
              </a:spcAft>
            </a:pPr>
            <a:r>
              <a:rPr lang="en-US" b="1" i="0" dirty="0">
                <a:solidFill>
                  <a:srgbClr val="273239"/>
                </a:solidFill>
                <a:effectLst/>
              </a:rPr>
              <a:t>Q1 (First Quartile):</a:t>
            </a:r>
            <a:r>
              <a:rPr lang="en-US" b="0" i="0" dirty="0">
                <a:solidFill>
                  <a:srgbClr val="273239"/>
                </a:solidFill>
                <a:effectLst/>
              </a:rPr>
              <a:t> Separates the lowest 25% of the data</a:t>
            </a:r>
          </a:p>
          <a:p>
            <a:pPr algn="l" fontAlgn="base">
              <a:spcAft>
                <a:spcPts val="1800"/>
              </a:spcAft>
            </a:pPr>
            <a:r>
              <a:rPr lang="en-US" b="1" i="0" dirty="0">
                <a:solidFill>
                  <a:srgbClr val="273239"/>
                </a:solidFill>
                <a:effectLst/>
              </a:rPr>
              <a:t>Q2 (Second Quartile / Median):</a:t>
            </a:r>
            <a:r>
              <a:rPr lang="en-US" b="0" i="0" dirty="0">
                <a:solidFill>
                  <a:srgbClr val="273239"/>
                </a:solidFill>
                <a:effectLst/>
              </a:rPr>
              <a:t> Middle value of the dataset</a:t>
            </a:r>
          </a:p>
          <a:p>
            <a:pPr algn="l" fontAlgn="base">
              <a:spcAft>
                <a:spcPts val="1800"/>
              </a:spcAft>
            </a:pPr>
            <a:r>
              <a:rPr lang="en-US" b="1" i="0" dirty="0">
                <a:solidFill>
                  <a:srgbClr val="273239"/>
                </a:solidFill>
                <a:effectLst/>
              </a:rPr>
              <a:t>Q3 (Third Quartile):</a:t>
            </a:r>
            <a:r>
              <a:rPr lang="en-US" b="0" i="0" dirty="0">
                <a:solidFill>
                  <a:srgbClr val="273239"/>
                </a:solidFill>
                <a:effectLst/>
              </a:rPr>
              <a:t> Separates the highest 25% of the data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6DD5F9FC-89B9-C915-4B3A-9668CFC0EC65}"/>
              </a:ext>
            </a:extLst>
          </p:cNvPr>
          <p:cNvSpPr/>
          <p:nvPr/>
        </p:nvSpPr>
        <p:spPr>
          <a:xfrm>
            <a:off x="324852" y="5161546"/>
            <a:ext cx="8361948" cy="1070812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</a:rPr>
              <a:t>The Interquartile Range (IQR) tells us how spread out the middle 50% of the data</a:t>
            </a:r>
          </a:p>
          <a:p>
            <a:r>
              <a:rPr lang="en-IN" dirty="0">
                <a:solidFill>
                  <a:schemeClr val="tx1"/>
                </a:solidFill>
              </a:rPr>
              <a:t>Interquartile Range = Upper Quartile (Q3)– Lower Quartile(Q1)</a:t>
            </a:r>
          </a:p>
          <a:p>
            <a:pPr algn="ctr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136768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AE653BD8-08D9-5142-90D7-236EFA760C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30066"/>
            <a:ext cx="9144000" cy="910889"/>
          </a:xfrm>
          <a:solidFill>
            <a:srgbClr val="EDEBDF"/>
          </a:solidFill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chemeClr val="tx2"/>
                </a:solidFill>
              </a:rPr>
              <a:t>Measures of Shape: Skewness &amp; Kurtosis</a:t>
            </a:r>
            <a:endParaRPr sz="3200" b="1" dirty="0">
              <a:solidFill>
                <a:schemeClr val="tx2"/>
              </a:solidFill>
            </a:endParaRPr>
          </a:p>
        </p:txBody>
      </p:sp>
      <p:sp>
        <p:nvSpPr>
          <p:cNvPr id="5" name="Arrow: Pentagon 4">
            <a:extLst>
              <a:ext uri="{FF2B5EF4-FFF2-40B4-BE49-F238E27FC236}">
                <a16:creationId xmlns:a16="http://schemas.microsoft.com/office/drawing/2014/main" id="{2733C096-9358-03E8-0CBC-3F2BB8346476}"/>
              </a:ext>
            </a:extLst>
          </p:cNvPr>
          <p:cNvSpPr/>
          <p:nvPr/>
        </p:nvSpPr>
        <p:spPr>
          <a:xfrm>
            <a:off x="0" y="6333498"/>
            <a:ext cx="914400" cy="524502"/>
          </a:xfrm>
          <a:prstGeom prst="homePlate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63D169E-116D-2CB3-8913-F552660C96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191" y="1371600"/>
            <a:ext cx="4892209" cy="3898232"/>
          </a:xfrm>
          <a:prstGeom prst="rect">
            <a:avLst/>
          </a:prstGeom>
        </p:spPr>
      </p:pic>
      <p:sp>
        <p:nvSpPr>
          <p:cNvPr id="7" name="TextBox 8">
            <a:extLst>
              <a:ext uri="{FF2B5EF4-FFF2-40B4-BE49-F238E27FC236}">
                <a16:creationId xmlns:a16="http://schemas.microsoft.com/office/drawing/2014/main" id="{EF591994-4F13-07B0-4F70-F747F5B99368}"/>
              </a:ext>
            </a:extLst>
          </p:cNvPr>
          <p:cNvSpPr txBox="1"/>
          <p:nvPr/>
        </p:nvSpPr>
        <p:spPr>
          <a:xfrm>
            <a:off x="5486400" y="2048133"/>
            <a:ext cx="3080908" cy="2339102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800"/>
            </a:pPr>
            <a:r>
              <a:rPr dirty="0"/>
              <a:t>Skewness Formula:</a:t>
            </a:r>
          </a:p>
          <a:p>
            <a:pPr>
              <a:defRPr sz="1400"/>
            </a:pPr>
            <a:r>
              <a:rPr dirty="0"/>
              <a:t>Skewness = (1/n) Σ ((x − μ)/σ)³</a:t>
            </a:r>
          </a:p>
          <a:p>
            <a:endParaRPr dirty="0"/>
          </a:p>
          <a:p>
            <a:pPr>
              <a:defRPr sz="1800"/>
            </a:pPr>
            <a:r>
              <a:rPr dirty="0"/>
              <a:t>Kurtosis Formula (Excess):</a:t>
            </a:r>
          </a:p>
          <a:p>
            <a:pPr>
              <a:defRPr sz="1400"/>
            </a:pPr>
            <a:r>
              <a:rPr dirty="0"/>
              <a:t>Kurtosis = (1/n) Σ ((x − μ)/σ)⁴ − 3</a:t>
            </a:r>
          </a:p>
          <a:p>
            <a:endParaRPr dirty="0"/>
          </a:p>
          <a:p>
            <a:pPr>
              <a:defRPr sz="1800"/>
            </a:pPr>
            <a:r>
              <a:rPr dirty="0"/>
              <a:t>ML Insight:</a:t>
            </a:r>
          </a:p>
          <a:p>
            <a:pPr>
              <a:defRPr sz="1400"/>
            </a:pPr>
            <a:r>
              <a:rPr dirty="0"/>
              <a:t>• Skewness → need for transformations</a:t>
            </a:r>
            <a:br>
              <a:rPr dirty="0"/>
            </a:br>
            <a:r>
              <a:rPr dirty="0"/>
              <a:t>• Kurtosis → outlier sensitivity</a:t>
            </a:r>
          </a:p>
        </p:txBody>
      </p:sp>
    </p:spTree>
    <p:extLst>
      <p:ext uri="{BB962C8B-B14F-4D97-AF65-F5344CB8AC3E}">
        <p14:creationId xmlns:p14="http://schemas.microsoft.com/office/powerpoint/2010/main" val="11043312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7E291EB8-3D78-4F30-2C52-A98BF71134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30066"/>
            <a:ext cx="9144000" cy="910889"/>
          </a:xfrm>
          <a:solidFill>
            <a:srgbClr val="EDEBDF"/>
          </a:solidFill>
        </p:spPr>
        <p:txBody>
          <a:bodyPr>
            <a:normAutofit/>
          </a:bodyPr>
          <a:lstStyle/>
          <a:p>
            <a:r>
              <a:rPr lang="en-IN" sz="3200" b="1" dirty="0">
                <a:solidFill>
                  <a:schemeClr val="tx2"/>
                </a:solidFill>
              </a:rPr>
              <a:t>Inferential Statistics</a:t>
            </a:r>
            <a:endParaRPr sz="3200" b="1" dirty="0">
              <a:solidFill>
                <a:schemeClr val="tx2"/>
              </a:solidFill>
            </a:endParaRPr>
          </a:p>
        </p:txBody>
      </p:sp>
      <p:sp>
        <p:nvSpPr>
          <p:cNvPr id="5" name="Arrow: Pentagon 4">
            <a:extLst>
              <a:ext uri="{FF2B5EF4-FFF2-40B4-BE49-F238E27FC236}">
                <a16:creationId xmlns:a16="http://schemas.microsoft.com/office/drawing/2014/main" id="{FB9270E5-CBC4-085F-00AE-B0862B185700}"/>
              </a:ext>
            </a:extLst>
          </p:cNvPr>
          <p:cNvSpPr/>
          <p:nvPr/>
        </p:nvSpPr>
        <p:spPr>
          <a:xfrm>
            <a:off x="0" y="6333498"/>
            <a:ext cx="914400" cy="524502"/>
          </a:xfrm>
          <a:prstGeom prst="homePlate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2B87DC8D-ED92-9EB2-EE88-156BC915376A}"/>
              </a:ext>
            </a:extLst>
          </p:cNvPr>
          <p:cNvSpPr>
            <a:spLocks noGrp="1"/>
          </p:cNvSpPr>
          <p:nvPr/>
        </p:nvSpPr>
        <p:spPr>
          <a:xfrm>
            <a:off x="965440" y="1239734"/>
            <a:ext cx="7213119" cy="84124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dirty="0"/>
              <a:t>We use descriptive statistics to understand California housing prices.</a:t>
            </a:r>
          </a:p>
          <a:p>
            <a:r>
              <a:rPr lang="en-US" sz="1800" dirty="0"/>
              <a:t>Inferential statistics helps us predict prices for unseen houses.</a:t>
            </a:r>
            <a:endParaRPr sz="18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ACECCEE-3E4E-6E61-6AD2-7F54AF911A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5440" y="2080982"/>
            <a:ext cx="7213119" cy="4421587"/>
          </a:xfrm>
          <a:prstGeom prst="rect">
            <a:avLst/>
          </a:prstGeom>
          <a:ln>
            <a:solidFill>
              <a:schemeClr val="accent1">
                <a:shade val="95000"/>
                <a:satMod val="10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2033188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A7471FB9-3504-B8D4-C7DA-29365F1327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30066"/>
            <a:ext cx="9144000" cy="910889"/>
          </a:xfrm>
          <a:solidFill>
            <a:srgbClr val="EDEBDF"/>
          </a:solidFill>
        </p:spPr>
        <p:txBody>
          <a:bodyPr>
            <a:normAutofit/>
          </a:bodyPr>
          <a:lstStyle/>
          <a:p>
            <a:r>
              <a:rPr lang="en-IN" sz="3200" b="1" dirty="0">
                <a:solidFill>
                  <a:schemeClr val="tx2"/>
                </a:solidFill>
              </a:rPr>
              <a:t>Population and Sample</a:t>
            </a:r>
            <a:endParaRPr sz="3200" b="1" dirty="0">
              <a:solidFill>
                <a:schemeClr val="tx2"/>
              </a:solidFill>
            </a:endParaRPr>
          </a:p>
        </p:txBody>
      </p:sp>
      <p:sp>
        <p:nvSpPr>
          <p:cNvPr id="5" name="Arrow: Pentagon 4">
            <a:extLst>
              <a:ext uri="{FF2B5EF4-FFF2-40B4-BE49-F238E27FC236}">
                <a16:creationId xmlns:a16="http://schemas.microsoft.com/office/drawing/2014/main" id="{96A94921-E22C-805D-66EB-87A96576508A}"/>
              </a:ext>
            </a:extLst>
          </p:cNvPr>
          <p:cNvSpPr/>
          <p:nvPr/>
        </p:nvSpPr>
        <p:spPr>
          <a:xfrm>
            <a:off x="0" y="6333498"/>
            <a:ext cx="914400" cy="524502"/>
          </a:xfrm>
          <a:prstGeom prst="homePlate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81416E4-1FDB-ADB4-0CE8-0CC129DA6D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9727" y="1329536"/>
            <a:ext cx="6151066" cy="4253117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5052665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B3602AB9-E05F-86A2-7085-4E3D6909A0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30066"/>
            <a:ext cx="9144000" cy="910889"/>
          </a:xfrm>
          <a:solidFill>
            <a:srgbClr val="EDEBDF"/>
          </a:solidFill>
        </p:spPr>
        <p:txBody>
          <a:bodyPr>
            <a:normAutofit/>
          </a:bodyPr>
          <a:lstStyle/>
          <a:p>
            <a:r>
              <a:rPr lang="en-IN" sz="3200" b="1" dirty="0">
                <a:solidFill>
                  <a:schemeClr val="tx2"/>
                </a:solidFill>
              </a:rPr>
              <a:t>Hypothesis Testing</a:t>
            </a:r>
            <a:endParaRPr sz="3200" b="1" dirty="0">
              <a:solidFill>
                <a:schemeClr val="tx2"/>
              </a:solidFill>
            </a:endParaRPr>
          </a:p>
        </p:txBody>
      </p:sp>
      <p:sp>
        <p:nvSpPr>
          <p:cNvPr id="5" name="Arrow: Pentagon 4">
            <a:extLst>
              <a:ext uri="{FF2B5EF4-FFF2-40B4-BE49-F238E27FC236}">
                <a16:creationId xmlns:a16="http://schemas.microsoft.com/office/drawing/2014/main" id="{6269F8A3-0A44-2ABB-4127-74C9873B1ED2}"/>
              </a:ext>
            </a:extLst>
          </p:cNvPr>
          <p:cNvSpPr/>
          <p:nvPr/>
        </p:nvSpPr>
        <p:spPr>
          <a:xfrm>
            <a:off x="0" y="6333498"/>
            <a:ext cx="914400" cy="524502"/>
          </a:xfrm>
          <a:prstGeom prst="homePlate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673201EF-22A7-ED99-7F0C-69ED9B588377}"/>
              </a:ext>
            </a:extLst>
          </p:cNvPr>
          <p:cNvSpPr>
            <a:spLocks noGrp="1"/>
          </p:cNvSpPr>
          <p:nvPr/>
        </p:nvSpPr>
        <p:spPr>
          <a:xfrm>
            <a:off x="914400" y="1000810"/>
            <a:ext cx="7724274" cy="1343721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i="1" dirty="0"/>
              <a:t>Our claim is “nearby restaurants” does not affect housing prices</a:t>
            </a:r>
            <a:r>
              <a:rPr lang="en-US" sz="1800" dirty="0"/>
              <a:t>.</a:t>
            </a:r>
            <a:br>
              <a:rPr lang="en-US" sz="1800" dirty="0"/>
            </a:br>
            <a:r>
              <a:rPr lang="en-US" sz="1800" dirty="0"/>
              <a:t>it must be </a:t>
            </a:r>
            <a:r>
              <a:rPr lang="en-US" sz="1800" b="1" dirty="0"/>
              <a:t>tested</a:t>
            </a:r>
            <a:r>
              <a:rPr lang="en-US" sz="1800" dirty="0"/>
              <a:t>, not assumed. That belief itself becomes the </a:t>
            </a:r>
            <a:r>
              <a:rPr lang="en-US" sz="1800" b="1" dirty="0"/>
              <a:t>null hypothesis</a:t>
            </a:r>
          </a:p>
          <a:p>
            <a:pPr marL="0" indent="0">
              <a:buNone/>
            </a:pPr>
            <a:r>
              <a:rPr lang="en-US" sz="1800" dirty="0"/>
              <a:t> </a:t>
            </a:r>
            <a:endParaRPr lang="en-US" sz="1800" b="1" dirty="0"/>
          </a:p>
          <a:p>
            <a:r>
              <a:rPr lang="en-US" sz="1800" dirty="0"/>
              <a:t>Hypothesis testing is a formal procedure to decide whether observed data provides enough evidence to reject a specific claim about the real world</a:t>
            </a:r>
          </a:p>
          <a:p>
            <a:endParaRPr sz="18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FE298AC-E279-911C-AED1-7C784E510F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1798" y="2213812"/>
            <a:ext cx="6731961" cy="43819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33854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B7E10C30-F9EB-690A-A415-0C5D5229BE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30066"/>
            <a:ext cx="9144000" cy="910889"/>
          </a:xfrm>
          <a:solidFill>
            <a:srgbClr val="EDEBDF"/>
          </a:solidFill>
        </p:spPr>
        <p:txBody>
          <a:bodyPr>
            <a:normAutofit/>
          </a:bodyPr>
          <a:lstStyle/>
          <a:p>
            <a:r>
              <a:rPr lang="en-IN" sz="3200" b="1" dirty="0">
                <a:solidFill>
                  <a:schemeClr val="tx2"/>
                </a:solidFill>
              </a:rPr>
              <a:t>Hypothesis Testing</a:t>
            </a:r>
            <a:endParaRPr sz="3200" b="1" dirty="0">
              <a:solidFill>
                <a:schemeClr val="tx2"/>
              </a:solidFill>
            </a:endParaRPr>
          </a:p>
        </p:txBody>
      </p:sp>
      <p:sp>
        <p:nvSpPr>
          <p:cNvPr id="5" name="Arrow: Pentagon 4">
            <a:extLst>
              <a:ext uri="{FF2B5EF4-FFF2-40B4-BE49-F238E27FC236}">
                <a16:creationId xmlns:a16="http://schemas.microsoft.com/office/drawing/2014/main" id="{E84A118B-9616-B8B3-8F4F-7F3B2109909D}"/>
              </a:ext>
            </a:extLst>
          </p:cNvPr>
          <p:cNvSpPr/>
          <p:nvPr/>
        </p:nvSpPr>
        <p:spPr>
          <a:xfrm>
            <a:off x="0" y="6333498"/>
            <a:ext cx="914400" cy="524502"/>
          </a:xfrm>
          <a:prstGeom prst="homePlate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57F69895-4847-E1E6-0D5B-9E4DC745946B}"/>
              </a:ext>
            </a:extLst>
          </p:cNvPr>
          <p:cNvSpPr>
            <a:spLocks noGrp="1"/>
          </p:cNvSpPr>
          <p:nvPr/>
        </p:nvSpPr>
        <p:spPr>
          <a:xfrm>
            <a:off x="998621" y="1199800"/>
            <a:ext cx="7603958" cy="5273189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/>
              <a:t>H₀: Nearby restaurants do not affect the mean housing price – Null Hypothesis</a:t>
            </a:r>
          </a:p>
          <a:p>
            <a:r>
              <a:rPr lang="en-US" sz="2000" dirty="0"/>
              <a:t>H₁: Nearby restaurants affect the mean housing price – Alternate Hypothesis</a:t>
            </a:r>
          </a:p>
          <a:p>
            <a:pPr marL="0" indent="0">
              <a:buNone/>
            </a:pPr>
            <a:endParaRPr lang="en-IN" sz="2000" b="1" dirty="0">
              <a:solidFill>
                <a:schemeClr val="accent2"/>
              </a:solidFill>
            </a:endParaRPr>
          </a:p>
          <a:p>
            <a:pPr marL="0" indent="0">
              <a:buNone/>
            </a:pPr>
            <a:r>
              <a:rPr lang="en-IN" sz="2000" dirty="0">
                <a:solidFill>
                  <a:schemeClr val="accent2">
                    <a:lumMod val="75000"/>
                  </a:schemeClr>
                </a:solidFill>
              </a:rPr>
              <a:t>Affect</a:t>
            </a:r>
          </a:p>
          <a:p>
            <a:pPr lvl="1"/>
            <a:r>
              <a:rPr lang="en-US" sz="2000" dirty="0"/>
              <a:t>Change in either of model accuracy, RMSE, average predicted house price</a:t>
            </a:r>
          </a:p>
          <a:p>
            <a:pPr lvl="1"/>
            <a:r>
              <a:rPr lang="en-US" sz="2000" dirty="0"/>
              <a:t>Difference in mean house price between:</a:t>
            </a:r>
          </a:p>
          <a:p>
            <a:pPr lvl="2"/>
            <a:r>
              <a:rPr lang="en-US" sz="2000" dirty="0"/>
              <a:t>areas with many restaurants</a:t>
            </a:r>
          </a:p>
          <a:p>
            <a:pPr lvl="2"/>
            <a:r>
              <a:rPr lang="en-US" sz="2000" dirty="0"/>
              <a:t>areas with few restaurants</a:t>
            </a:r>
          </a:p>
          <a:p>
            <a:pPr marL="914400" lvl="2" indent="0">
              <a:buNone/>
            </a:pPr>
            <a:endParaRPr lang="en-IN" sz="2000" dirty="0"/>
          </a:p>
          <a:p>
            <a:r>
              <a:rPr lang="en-IN" sz="2000" dirty="0">
                <a:solidFill>
                  <a:schemeClr val="accent2">
                    <a:lumMod val="75000"/>
                  </a:schemeClr>
                </a:solidFill>
              </a:rPr>
              <a:t>p-value = probability value</a:t>
            </a:r>
          </a:p>
          <a:p>
            <a:pPr lvl="1"/>
            <a:r>
              <a:rPr lang="en-US" sz="2000" dirty="0">
                <a:solidFill>
                  <a:schemeClr val="accent2">
                    <a:lumMod val="75000"/>
                  </a:schemeClr>
                </a:solidFill>
              </a:rPr>
              <a:t>p &lt; 0.05 → Reject H₀</a:t>
            </a:r>
          </a:p>
          <a:p>
            <a:pPr lvl="1"/>
            <a:r>
              <a:rPr lang="en-US" sz="2000" dirty="0">
                <a:solidFill>
                  <a:schemeClr val="accent2">
                    <a:lumMod val="75000"/>
                  </a:schemeClr>
                </a:solidFill>
              </a:rPr>
              <a:t>p ≥ 0.05 → Fail to reject H₀</a:t>
            </a:r>
            <a:endParaRPr lang="en-IN" sz="2000" dirty="0">
              <a:solidFill>
                <a:schemeClr val="accent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293301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B4248762-F46D-F413-A9D8-D34CF5BD10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30066"/>
            <a:ext cx="9144000" cy="910889"/>
          </a:xfrm>
          <a:solidFill>
            <a:srgbClr val="EDEBDF"/>
          </a:solidFill>
        </p:spPr>
        <p:txBody>
          <a:bodyPr>
            <a:normAutofit/>
          </a:bodyPr>
          <a:lstStyle/>
          <a:p>
            <a:r>
              <a:rPr lang="en-IN" sz="3200" b="1" dirty="0">
                <a:solidFill>
                  <a:schemeClr val="tx2"/>
                </a:solidFill>
              </a:rPr>
              <a:t>Estimation</a:t>
            </a:r>
            <a:endParaRPr sz="3200" b="1" dirty="0">
              <a:solidFill>
                <a:schemeClr val="tx2"/>
              </a:solidFill>
            </a:endParaRPr>
          </a:p>
        </p:txBody>
      </p:sp>
      <p:sp>
        <p:nvSpPr>
          <p:cNvPr id="5" name="Arrow: Pentagon 4">
            <a:extLst>
              <a:ext uri="{FF2B5EF4-FFF2-40B4-BE49-F238E27FC236}">
                <a16:creationId xmlns:a16="http://schemas.microsoft.com/office/drawing/2014/main" id="{101D9E93-4975-2615-A8DD-2D14060C0416}"/>
              </a:ext>
            </a:extLst>
          </p:cNvPr>
          <p:cNvSpPr/>
          <p:nvPr/>
        </p:nvSpPr>
        <p:spPr>
          <a:xfrm>
            <a:off x="0" y="6333498"/>
            <a:ext cx="914400" cy="524502"/>
          </a:xfrm>
          <a:prstGeom prst="homePlate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5E643F2-DB2E-0C94-0D7E-560F7D9013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2684" y="986603"/>
            <a:ext cx="5354053" cy="4307774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38DABCC5-BFE7-6D16-26F4-E097436F103C}"/>
              </a:ext>
            </a:extLst>
          </p:cNvPr>
          <p:cNvSpPr/>
          <p:nvPr/>
        </p:nvSpPr>
        <p:spPr>
          <a:xfrm>
            <a:off x="1022684" y="5416039"/>
            <a:ext cx="6448927" cy="1127118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IN" dirty="0">
              <a:solidFill>
                <a:schemeClr val="tx1"/>
              </a:solidFill>
            </a:endParaRPr>
          </a:p>
          <a:p>
            <a:r>
              <a:rPr lang="en-IN" dirty="0">
                <a:solidFill>
                  <a:schemeClr val="tx1"/>
                </a:solidFill>
              </a:rPr>
              <a:t>Point Estimation → Best single guess</a:t>
            </a:r>
          </a:p>
          <a:p>
            <a:r>
              <a:rPr lang="en-IN" dirty="0">
                <a:solidFill>
                  <a:schemeClr val="tx1"/>
                </a:solidFill>
              </a:rPr>
              <a:t>Interval Estimation → Range of plausible values</a:t>
            </a:r>
          </a:p>
          <a:p>
            <a:r>
              <a:rPr lang="en-IN" dirty="0">
                <a:solidFill>
                  <a:schemeClr val="tx1"/>
                </a:solidFill>
              </a:rPr>
              <a:t>Confidence Interval → How confident we are in that range</a:t>
            </a:r>
          </a:p>
          <a:p>
            <a:pPr algn="ctr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329604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EF9847-009F-A1BF-A807-59B4BFCE7C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C5DBFF-AB88-74F6-FC56-48F2898BB8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534341"/>
            <a:ext cx="8229600" cy="3498112"/>
          </a:xfrm>
        </p:spPr>
        <p:txBody>
          <a:bodyPr>
            <a:normAutofit/>
          </a:bodyPr>
          <a:lstStyle/>
          <a:p>
            <a:pPr marL="0" indent="0" algn="ctr">
              <a:spcBef>
                <a:spcPct val="0"/>
              </a:spcBef>
              <a:buNone/>
              <a:defRPr sz="3600" b="1">
                <a:solidFill>
                  <a:srgbClr val="203764"/>
                </a:solidFill>
              </a:defRPr>
            </a:pPr>
            <a:endParaRPr lang="en-US" sz="6600" b="1" dirty="0">
              <a:solidFill>
                <a:srgbClr val="0070C0"/>
              </a:solidFill>
              <a:latin typeface="+mj-lt"/>
              <a:ea typeface="+mj-ea"/>
              <a:cs typeface="+mj-cs"/>
            </a:endParaRPr>
          </a:p>
          <a:p>
            <a:pPr marL="0" indent="0" algn="ctr">
              <a:spcBef>
                <a:spcPct val="0"/>
              </a:spcBef>
              <a:buNone/>
              <a:defRPr sz="3600" b="1">
                <a:solidFill>
                  <a:srgbClr val="203764"/>
                </a:solidFill>
              </a:defRPr>
            </a:pPr>
            <a:r>
              <a:rPr lang="en-US" sz="6600" b="1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THANK</a:t>
            </a:r>
            <a:r>
              <a:rPr lang="en-US" sz="6600" b="1" dirty="0">
                <a:solidFill>
                  <a:srgbClr val="0070C0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6600" b="1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YOU</a:t>
            </a:r>
          </a:p>
          <a:p>
            <a:pPr marL="0" indent="0" algn="ctr">
              <a:buNone/>
              <a:defRPr sz="1800">
                <a:solidFill>
                  <a:srgbClr val="404040"/>
                </a:solidFill>
              </a:defRPr>
            </a:pPr>
            <a:endParaRPr sz="6600" dirty="0"/>
          </a:p>
        </p:txBody>
      </p:sp>
      <p:sp>
        <p:nvSpPr>
          <p:cNvPr id="6" name="Half Frame 5">
            <a:extLst>
              <a:ext uri="{FF2B5EF4-FFF2-40B4-BE49-F238E27FC236}">
                <a16:creationId xmlns:a16="http://schemas.microsoft.com/office/drawing/2014/main" id="{98C0FCA3-7537-03A8-2E3D-F6B15A90D8A9}"/>
              </a:ext>
            </a:extLst>
          </p:cNvPr>
          <p:cNvSpPr/>
          <p:nvPr/>
        </p:nvSpPr>
        <p:spPr>
          <a:xfrm rot="19936319">
            <a:off x="1654539" y="1789468"/>
            <a:ext cx="1777208" cy="4149847"/>
          </a:xfrm>
          <a:prstGeom prst="halfFrame">
            <a:avLst/>
          </a:prstGeom>
          <a:gradFill flip="none" rotWithShape="1">
            <a:gsLst>
              <a:gs pos="0">
                <a:schemeClr val="accent4">
                  <a:lumMod val="5000"/>
                  <a:lumOff val="95000"/>
                </a:schemeClr>
              </a:gs>
              <a:gs pos="74000">
                <a:schemeClr val="accent4">
                  <a:lumMod val="45000"/>
                  <a:lumOff val="55000"/>
                </a:schemeClr>
              </a:gs>
              <a:gs pos="83000">
                <a:schemeClr val="accent4">
                  <a:lumMod val="45000"/>
                  <a:lumOff val="55000"/>
                </a:schemeClr>
              </a:gs>
              <a:gs pos="100000">
                <a:schemeClr val="accent4">
                  <a:lumMod val="30000"/>
                  <a:lumOff val="70000"/>
                </a:schemeClr>
              </a:gs>
            </a:gsLst>
            <a:lin ang="5400000" scaled="1"/>
            <a:tileRect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7" name="Half Frame 6">
            <a:extLst>
              <a:ext uri="{FF2B5EF4-FFF2-40B4-BE49-F238E27FC236}">
                <a16:creationId xmlns:a16="http://schemas.microsoft.com/office/drawing/2014/main" id="{60477082-F477-D004-316E-BA28471CC7E4}"/>
              </a:ext>
            </a:extLst>
          </p:cNvPr>
          <p:cNvSpPr/>
          <p:nvPr/>
        </p:nvSpPr>
        <p:spPr>
          <a:xfrm rot="9195688">
            <a:off x="5535579" y="564908"/>
            <a:ext cx="1777208" cy="4200245"/>
          </a:xfrm>
          <a:prstGeom prst="halfFrame">
            <a:avLst/>
          </a:prstGeom>
          <a:gradFill>
            <a:gsLst>
              <a:gs pos="0">
                <a:schemeClr val="accent4">
                  <a:lumMod val="5000"/>
                  <a:lumOff val="95000"/>
                </a:schemeClr>
              </a:gs>
              <a:gs pos="74000">
                <a:schemeClr val="accent4">
                  <a:lumMod val="45000"/>
                  <a:lumOff val="55000"/>
                </a:schemeClr>
              </a:gs>
              <a:gs pos="83000">
                <a:schemeClr val="accent4">
                  <a:lumMod val="45000"/>
                  <a:lumOff val="55000"/>
                </a:schemeClr>
              </a:gs>
              <a:gs pos="100000">
                <a:schemeClr val="accent4">
                  <a:lumMod val="30000"/>
                  <a:lumOff val="70000"/>
                </a:schemeClr>
              </a:gs>
            </a:gsLst>
            <a:lin ang="54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1FFABAA-2CEA-B72F-1FB7-EE616D7299E3}"/>
              </a:ext>
            </a:extLst>
          </p:cNvPr>
          <p:cNvCxnSpPr>
            <a:cxnSpLocks/>
          </p:cNvCxnSpPr>
          <p:nvPr/>
        </p:nvCxnSpPr>
        <p:spPr>
          <a:xfrm>
            <a:off x="637953" y="2498651"/>
            <a:ext cx="1905190" cy="3677779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59B52F6-DA2B-E6DE-781F-A2659D0BA3B6}"/>
              </a:ext>
            </a:extLst>
          </p:cNvPr>
          <p:cNvCxnSpPr>
            <a:cxnSpLocks/>
          </p:cNvCxnSpPr>
          <p:nvPr/>
        </p:nvCxnSpPr>
        <p:spPr>
          <a:xfrm>
            <a:off x="6376058" y="283899"/>
            <a:ext cx="1928647" cy="3771409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Arrow: Pentagon 3">
            <a:extLst>
              <a:ext uri="{FF2B5EF4-FFF2-40B4-BE49-F238E27FC236}">
                <a16:creationId xmlns:a16="http://schemas.microsoft.com/office/drawing/2014/main" id="{9EBB7245-D890-7B18-5E9F-22829D9458F3}"/>
              </a:ext>
            </a:extLst>
          </p:cNvPr>
          <p:cNvSpPr/>
          <p:nvPr/>
        </p:nvSpPr>
        <p:spPr>
          <a:xfrm>
            <a:off x="0" y="6333498"/>
            <a:ext cx="914400" cy="524502"/>
          </a:xfrm>
          <a:prstGeom prst="homePlate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46208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1183</TotalTime>
  <Words>888</Words>
  <Application>Microsoft Office PowerPoint</Application>
  <PresentationFormat>On-screen Show (4:3)</PresentationFormat>
  <Paragraphs>97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Cambria Math</vt:lpstr>
      <vt:lpstr>Office Theme</vt:lpstr>
      <vt:lpstr>Statistics and Its Types</vt:lpstr>
      <vt:lpstr>Descriptive Statistics – Central Tendency</vt:lpstr>
      <vt:lpstr>Measures of Spread</vt:lpstr>
      <vt:lpstr>Interquartile Range (IQR)</vt:lpstr>
      <vt:lpstr>Measures of Shape: Skewness &amp; Kurtosis</vt:lpstr>
      <vt:lpstr>Inferential Statistics</vt:lpstr>
      <vt:lpstr>Population and Sample</vt:lpstr>
      <vt:lpstr>Hypothesis Testing</vt:lpstr>
      <vt:lpstr>Hypothesis Testing</vt:lpstr>
      <vt:lpstr>Estimation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satyajit joshi</cp:lastModifiedBy>
  <cp:revision>186</cp:revision>
  <dcterms:created xsi:type="dcterms:W3CDTF">2013-01-27T09:14:16Z</dcterms:created>
  <dcterms:modified xsi:type="dcterms:W3CDTF">2026-01-09T14:47:47Z</dcterms:modified>
  <cp:category/>
</cp:coreProperties>
</file>