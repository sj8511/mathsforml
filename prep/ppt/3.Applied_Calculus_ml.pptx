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82" r:id="rId2"/>
    <p:sldId id="283" r:id="rId3"/>
    <p:sldId id="284" r:id="rId4"/>
    <p:sldId id="285" r:id="rId5"/>
    <p:sldId id="286" r:id="rId6"/>
    <p:sldId id="287" r:id="rId7"/>
    <p:sldId id="288" r:id="rId8"/>
    <p:sldId id="289" r:id="rId9"/>
    <p:sldId id="290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4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2034" autoAdjust="0"/>
  </p:normalViewPr>
  <p:slideViewPr>
    <p:cSldViewPr snapToGrid="0" snapToObjects="1">
      <p:cViewPr varScale="1">
        <p:scale>
          <a:sx n="53" d="100"/>
          <a:sy n="53" d="100"/>
        </p:scale>
        <p:origin x="166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6097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Machine learning models don’t learn magically.</a:t>
            </a:r>
          </a:p>
          <a:p>
            <a:r>
              <a:rPr lang="en-US" dirty="0"/>
              <a:t>They learn using calculus — mainly differential and integral calculus </a:t>
            </a:r>
            <a:r>
              <a:rPr lang="en-US" dirty="0" err="1"/>
              <a:t>whcich</a:t>
            </a:r>
            <a:r>
              <a:rPr lang="en-US" dirty="0"/>
              <a:t> are the tools ancient mathematics of Calculus.</a:t>
            </a:r>
          </a:p>
          <a:p>
            <a:r>
              <a:rPr lang="en-US" dirty="0"/>
              <a:t>In general calculus is simply the mathematics of change and accumulation.</a:t>
            </a:r>
          </a:p>
          <a:p>
            <a:endParaRPr lang="en-US" dirty="0"/>
          </a:p>
          <a:p>
            <a:r>
              <a:rPr lang="en-US" dirty="0"/>
              <a:t>Let’s understand this using a simple visual story.</a:t>
            </a:r>
          </a:p>
          <a:p>
            <a:r>
              <a:rPr lang="en-US" dirty="0"/>
              <a:t>On the left is how models learn.</a:t>
            </a:r>
          </a:p>
          <a:p>
            <a:r>
              <a:rPr lang="en-US" dirty="0"/>
              <a:t>On the right is how models reason under uncertainty.</a:t>
            </a:r>
          </a:p>
          <a:p>
            <a:endParaRPr lang="en-US" dirty="0"/>
          </a:p>
          <a:p>
            <a:r>
              <a:rPr lang="en-US" dirty="0"/>
              <a:t>Consider the man in this image as our machine learning model.</a:t>
            </a:r>
          </a:p>
          <a:p>
            <a:r>
              <a:rPr lang="en-US" dirty="0"/>
              <a:t>The goal of the model is to reach the downhill point, which represents minimum loss.</a:t>
            </a:r>
          </a:p>
          <a:p>
            <a:r>
              <a:rPr lang="en-US" dirty="0"/>
              <a:t>However, as shown in the image, the model has ended up at the top of the hill.</a:t>
            </a:r>
          </a:p>
          <a:p>
            <a:r>
              <a:rPr lang="en-US" dirty="0"/>
              <a:t>This means the model’s predictions are poor, and the model has high error, which we call loss.</a:t>
            </a:r>
          </a:p>
          <a:p>
            <a:endParaRPr lang="en-US" dirty="0"/>
          </a:p>
          <a:p>
            <a:r>
              <a:rPr lang="en-US" dirty="0"/>
              <a:t>The height of the hill represents how large the error is</a:t>
            </a:r>
          </a:p>
          <a:p>
            <a:r>
              <a:rPr lang="en-US" dirty="0"/>
              <a:t>Where the man stands is the current loss value</a:t>
            </a:r>
          </a:p>
          <a:p>
            <a:r>
              <a:rPr lang="en-US" dirty="0"/>
              <a:t>If the model moves high , predictions are bad</a:t>
            </a:r>
          </a:p>
          <a:p>
            <a:r>
              <a:rPr lang="en-US" dirty="0"/>
              <a:t>As the model moves downhill, predictions improve.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man wants to move downhill, but it can’t see the whole landscape. assume man has blindfold</a:t>
            </a:r>
          </a:p>
          <a:p>
            <a:r>
              <a:rPr lang="en-US" dirty="0"/>
              <a:t>It can only feel the slope under its feet.</a:t>
            </a:r>
          </a:p>
          <a:p>
            <a:endParaRPr lang="en-US" dirty="0"/>
          </a:p>
          <a:p>
            <a:r>
              <a:rPr lang="en-US" dirty="0"/>
              <a:t>So it asks two questions:</a:t>
            </a:r>
          </a:p>
          <a:p>
            <a:r>
              <a:rPr lang="en-US" dirty="0"/>
              <a:t>Which way is downhill? → direction</a:t>
            </a:r>
          </a:p>
          <a:p>
            <a:r>
              <a:rPr lang="en-US" dirty="0"/>
              <a:t>How steep is the slope? → magnitude</a:t>
            </a:r>
          </a:p>
          <a:p>
            <a:r>
              <a:rPr lang="en-US" dirty="0"/>
              <a:t>These two together are given by the gradient, which is computed using the derivative (</a:t>
            </a:r>
            <a:r>
              <a:rPr lang="en-US" dirty="0" err="1"/>
              <a:t>dy</a:t>
            </a:r>
            <a:r>
              <a:rPr lang="en-US" dirty="0"/>
              <a:t>/dx) of the loss function.</a:t>
            </a:r>
          </a:p>
          <a:p>
            <a:r>
              <a:rPr lang="en-US" dirty="0"/>
              <a:t>The model updates its parameters by taking a small step in the opposite direction of the gradient, which reduces the loss.</a:t>
            </a:r>
          </a:p>
          <a:p>
            <a:endParaRPr lang="en-US" dirty="0"/>
          </a:p>
          <a:p>
            <a:r>
              <a:rPr lang="en-US" dirty="0"/>
              <a:t>This process repeats many times.</a:t>
            </a:r>
          </a:p>
          <a:p>
            <a:r>
              <a:rPr lang="en-US" dirty="0"/>
              <a:t>As the slope flattens, the steps become smaller.</a:t>
            </a:r>
          </a:p>
          <a:p>
            <a:r>
              <a:rPr lang="en-US" dirty="0"/>
              <a:t>When the slope is nearly zero, training has converged.</a:t>
            </a:r>
          </a:p>
          <a:p>
            <a:endParaRPr lang="en-US" dirty="0"/>
          </a:p>
          <a:p>
            <a:r>
              <a:rPr lang="en-US" dirty="0"/>
              <a:t>=============</a:t>
            </a:r>
          </a:p>
          <a:p>
            <a:r>
              <a:rPr lang="en-US" dirty="0"/>
              <a:t>new Integration</a:t>
            </a:r>
          </a:p>
          <a:p>
            <a:r>
              <a:rPr lang="en-US" dirty="0"/>
              <a:t>Now let’s see how model reason.</a:t>
            </a:r>
          </a:p>
          <a:p>
            <a:r>
              <a:rPr lang="en-US" dirty="0"/>
              <a:t>Here, the x-axis shows house prices,</a:t>
            </a:r>
          </a:p>
          <a:p>
            <a:r>
              <a:rPr lang="en-US" dirty="0"/>
              <a:t>and the y-axis shows how frequently those prices occur.</a:t>
            </a:r>
          </a:p>
          <a:p>
            <a:r>
              <a:rPr lang="en-US" dirty="0"/>
              <a:t>This curve represents a probability distribution of house prices.</a:t>
            </a:r>
          </a:p>
          <a:p>
            <a:r>
              <a:rPr lang="en-US" dirty="0"/>
              <a:t>Instead of picking one house,</a:t>
            </a:r>
          </a:p>
          <a:p>
            <a:r>
              <a:rPr lang="en-US" dirty="0"/>
              <a:t>we consider all possible prices, weighted by how likely they are.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When we add up all these tiny contributions,</a:t>
            </a:r>
          </a:p>
          <a:p>
            <a:r>
              <a:rPr lang="en-US" dirty="0"/>
              <a:t>we get the expected house price.</a:t>
            </a:r>
          </a:p>
          <a:p>
            <a:r>
              <a:rPr lang="en-US" dirty="0"/>
              <a:t>This total accumulation is computed using an integral.</a:t>
            </a:r>
          </a:p>
          <a:p>
            <a:r>
              <a:rPr lang="en-US" dirty="0"/>
              <a:t>Integration answers the question:</a:t>
            </a:r>
          </a:p>
          <a:p>
            <a:r>
              <a:rPr lang="en-US" dirty="0"/>
              <a:t>What happens on average, across all possibilities?</a:t>
            </a:r>
          </a:p>
          <a:p>
            <a:endParaRPr lang="en-US" dirty="0"/>
          </a:p>
          <a:p>
            <a:r>
              <a:rPr lang="en-US" dirty="0"/>
              <a:t>Differential → Learning</a:t>
            </a:r>
          </a:p>
          <a:p>
            <a:r>
              <a:rPr lang="en-US" dirty="0"/>
              <a:t>Integral → Reasoning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09771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A9CFA-7494-2834-6F92-BCE901074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AE7495-3A18-44A6-2372-854C9DD1A8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127C9E72-C5FF-E6D1-B24B-9B570750143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6400" cy="3600450"/>
              </a:xfrm>
              <a:prstGeom prst="rect">
                <a:avLst/>
              </a:prstGeom>
            </p:spPr>
            <p:txBody>
              <a:bodyPr/>
              <a:lstStyle/>
              <a:p>
                <a:r>
                  <a:rPr lang="en-US" dirty="0"/>
                  <a:t>This image explains what a derivative really means.</a:t>
                </a:r>
              </a:p>
              <a:p>
                <a:r>
                  <a:rPr lang="en-US" dirty="0"/>
                  <a:t>Think of the curve as a function. We pick a point A, here at (2, 2.30), which is our current position.</a:t>
                </a:r>
              </a:p>
              <a:p>
                <a:endParaRPr lang="en-US" dirty="0"/>
              </a:p>
              <a:p>
                <a:r>
                  <a:rPr lang="en-US" dirty="0"/>
                  <a:t>We then move a small step along the x-axis, called </a:t>
                </a:r>
                <a:r>
                  <a:rPr lang="en-US" dirty="0" err="1"/>
                  <a:t>Δx</a:t>
                </a:r>
                <a:r>
                  <a:rPr lang="en-US" dirty="0"/>
                  <a:t>, and reach point B at (5, 5.37).</a:t>
                </a:r>
              </a:p>
              <a:p>
                <a:r>
                  <a:rPr lang="en-US" dirty="0"/>
                  <a:t>This causes a small change in the output, </a:t>
                </a:r>
                <a:r>
                  <a:rPr lang="en-US" dirty="0" err="1"/>
                  <a:t>Δy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/>
                  <a:t>The slope between these two points is </a:t>
                </a:r>
                <a:r>
                  <a:rPr lang="en-US" dirty="0" err="1"/>
                  <a:t>Δy</a:t>
                </a:r>
                <a:r>
                  <a:rPr lang="en-US" dirty="0"/>
                  <a:t> divided by </a:t>
                </a:r>
                <a:r>
                  <a:rPr lang="en-US" dirty="0" err="1"/>
                  <a:t>Δx</a:t>
                </a:r>
                <a:r>
                  <a:rPr lang="en-US" dirty="0"/>
                  <a:t>, also called rise over run.</a:t>
                </a:r>
              </a:p>
              <a:p>
                <a:endParaRPr lang="en-US" dirty="0"/>
              </a:p>
              <a:p>
                <a:r>
                  <a:rPr lang="en-US" dirty="0"/>
                  <a:t>Example calculation:</a:t>
                </a:r>
              </a:p>
              <a:p>
                <a:r>
                  <a:rPr lang="en-US" dirty="0"/>
                  <a:t>Change in y = </a:t>
                </a:r>
                <a14:m>
                  <m:oMath xmlns:m="http://schemas.openxmlformats.org/officeDocument/2006/math">
                    <m:r>
                      <a:rPr lang="en-US" sz="120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5.37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−2.30=3.07</m:t>
                    </m:r>
                  </m:oMath>
                </a14:m>
                <a:endParaRPr lang="en-US" dirty="0"/>
              </a:p>
              <a:p>
                <a:r>
                  <a:rPr lang="en-US" dirty="0"/>
                  <a:t>Change in x = </a:t>
                </a:r>
                <a14:m>
                  <m:oMath xmlns:m="http://schemas.openxmlformats.org/officeDocument/2006/math">
                    <m:r>
                      <a:rPr lang="en-US" sz="1200" b="0" i="0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5−2=3</m:t>
                    </m:r>
                  </m:oMath>
                </a14:m>
                <a:br>
                  <a:rPr lang="en-US" sz="1200" b="0" i="0" kern="1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</a:br>
                <a:r>
                  <a:rPr lang="en-US" sz="1200" b="0" i="0" kern="1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𝑚=3.07/3≈1.02</a:t>
                </a:r>
                <a:endParaRPr lang="en-US" dirty="0"/>
              </a:p>
              <a:p>
                <a:r>
                  <a:rPr lang="en-US" dirty="0"/>
                  <a:t>A tangent line touching the curve at one point</a:t>
                </a:r>
              </a:p>
              <a:p>
                <a:r>
                  <a:rPr lang="en-US" dirty="0"/>
                  <a:t>That tangent’s slope = </a:t>
                </a:r>
                <a:r>
                  <a:rPr lang="en-US" b="1" dirty="0"/>
                  <a:t>derivative at that point</a:t>
                </a:r>
                <a:endParaRPr lang="en-US" dirty="0"/>
              </a:p>
              <a:p>
                <a:endParaRPr lang="en-US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127C9E72-C5FF-E6D1-B24B-9B570750143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6400" cy="3600450"/>
              </a:xfrm>
              <a:prstGeom prst="rect">
                <a:avLst/>
              </a:prstGeom>
            </p:spPr>
            <p:txBody>
              <a:bodyPr/>
              <a:lstStyle/>
              <a:p>
                <a:r>
                  <a:rPr lang="en-US" dirty="0"/>
                  <a:t>This image explains what a derivative really means.</a:t>
                </a:r>
              </a:p>
              <a:p>
                <a:r>
                  <a:rPr lang="en-US" dirty="0"/>
                  <a:t>Think of the curve as a function. We pick a point A, here at (2, 2.30), which is our current position.</a:t>
                </a:r>
              </a:p>
              <a:p>
                <a:endParaRPr lang="en-US" dirty="0"/>
              </a:p>
              <a:p>
                <a:r>
                  <a:rPr lang="en-US" dirty="0"/>
                  <a:t>We then move a small step along the x-axis, called </a:t>
                </a:r>
                <a:r>
                  <a:rPr lang="en-US" dirty="0" err="1"/>
                  <a:t>Δx</a:t>
                </a:r>
                <a:r>
                  <a:rPr lang="en-US" dirty="0"/>
                  <a:t>, and reach point B at (5, 5.37).</a:t>
                </a:r>
              </a:p>
              <a:p>
                <a:r>
                  <a:rPr lang="en-US" dirty="0"/>
                  <a:t>This causes a small change in the output, </a:t>
                </a:r>
                <a:r>
                  <a:rPr lang="en-US" dirty="0" err="1"/>
                  <a:t>Δy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/>
                  <a:t>The slope between these two points is </a:t>
                </a:r>
                <a:r>
                  <a:rPr lang="en-US" dirty="0" err="1"/>
                  <a:t>Δy</a:t>
                </a:r>
                <a:r>
                  <a:rPr lang="en-US" dirty="0"/>
                  <a:t> divided by </a:t>
                </a:r>
                <a:r>
                  <a:rPr lang="en-US" dirty="0" err="1"/>
                  <a:t>Δx</a:t>
                </a:r>
                <a:r>
                  <a:rPr lang="en-US" dirty="0"/>
                  <a:t>, also called rise over run.</a:t>
                </a:r>
              </a:p>
              <a:p>
                <a:endParaRPr lang="en-US" dirty="0"/>
              </a:p>
              <a:p>
                <a:r>
                  <a:rPr lang="en-US" dirty="0"/>
                  <a:t>Example calculation:</a:t>
                </a:r>
              </a:p>
              <a:p>
                <a:r>
                  <a:rPr lang="en-US" dirty="0"/>
                  <a:t>Change in y =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5.37−2.30=3.07</a:t>
                </a:r>
                <a:endParaRPr lang="en-US" dirty="0"/>
              </a:p>
              <a:p>
                <a:r>
                  <a:rPr lang="en-US" dirty="0"/>
                  <a:t>Change in x = 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5−2=3</a:t>
                </a:r>
                <a:br>
                  <a:rPr lang="en-US" sz="1200" b="0" i="0" kern="1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</a:br>
                <a:r>
                  <a:rPr lang="en-US" sz="1200" b="0" i="0" kern="1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𝑚=3.07/3≈1.02</a:t>
                </a:r>
                <a:endParaRPr lang="en-US" dirty="0"/>
              </a:p>
              <a:p>
                <a:r>
                  <a:rPr lang="en-US" dirty="0"/>
                  <a:t>A tangent line touching the curve at one point</a:t>
                </a:r>
              </a:p>
              <a:p>
                <a:r>
                  <a:rPr lang="en-US" dirty="0"/>
                  <a:t>That tangent’s slope = </a:t>
                </a:r>
                <a:r>
                  <a:rPr lang="en-US" b="1" dirty="0"/>
                  <a:t>derivative at that point</a:t>
                </a:r>
                <a:endParaRPr lang="en-US" dirty="0"/>
              </a:p>
              <a:p>
                <a:endParaRPr lang="en-US" dirty="0"/>
              </a:p>
              <a:p>
                <a:endParaRPr lang="en-IN"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46398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FF41B-69D1-22F9-0B78-53B44050C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E7C934-EFD2-8936-C1AD-9B459C0910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2FA41C-D7D5-E1B5-32D2-EBCFB2E021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16897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3B18E-80AA-EDAB-4764-65EB6BE8D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2B98D3-CC67-82A6-0488-9453F25B3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D30E0E-543B-1493-E363-10B6E82742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 small change in weight changes the predicted house price.</a:t>
            </a:r>
            <a:br>
              <a:rPr lang="en-US" dirty="0"/>
            </a:br>
            <a:r>
              <a:rPr lang="en-US" dirty="0"/>
              <a:t>That change in predicted price changes the error.</a:t>
            </a:r>
            <a:br>
              <a:rPr lang="en-US" dirty="0"/>
            </a:br>
            <a:r>
              <a:rPr lang="en-US" dirty="0"/>
              <a:t>The chain rule multiplies these two effects.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90822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AD9F3-734C-88C7-D5A3-7088D4C56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DE6E9D-D41D-F966-37E6-5BD2D2DCAA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8AC468-F5F2-0AD8-F923-1A96273217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are going to explore how machine learning models actually learn through a process called gradient descent. We will use a real-world example - predicting California housing prices.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will use a simple linear model - just like drawing a line through data points - and our job is to find the best line.“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</a:t>
            </a:r>
            <a:r>
              <a:rPr lang="en-US" dirty="0"/>
              <a:t> decides how steep the prediction line is, and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</a:t>
            </a:r>
            <a:r>
              <a:rPr lang="en-US" dirty="0"/>
              <a:t> decides where the line starts.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"We intentionally start with the worst possible model - a flat line at zero. This shows exactly why we need learning! Our predictions are terrible, but this gives us room for improvement."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96526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DC918-80B1-1D09-5023-CEAD35556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FD61DB-4967-419E-D8CF-7F54AD5726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311146-DEB6-9D6B-ABAE-EC47CEC42E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"This is where calculus comes in! The gradient is just the derivative of our loss function. It tells us how changing our parameters affects the loss.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negative sign is crucial - it points us downhill toward lower loss.</a:t>
            </a:r>
          </a:p>
          <a:p>
            <a:r>
              <a:rPr lang="en-US" dirty="0"/>
              <a:t>You don’t need to derive calculus by hand</a:t>
            </a:r>
          </a:p>
          <a:p>
            <a:r>
              <a:rPr lang="en-US" dirty="0"/>
              <a:t>But understanding it improves ML debugging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20906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EFA27-502B-E409-B72D-4BE774425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ACCC6C-D776-8351-0A1A-D002C8201B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58DE9A-5282-C750-98FC-A1D26E864B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“In the discrete case, probability already includes the size of each step.</a:t>
            </a:r>
            <a:br>
              <a:rPr lang="en-US" dirty="0"/>
            </a:br>
            <a:r>
              <a:rPr lang="en-US" dirty="0"/>
              <a:t>In the continuous case, we need d(price) to represent an infinitesimally small step.”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14012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EF0E8-41B4-525D-F81B-12D2B2253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4864BF-D34A-22F3-88F0-DB6B37BB56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FC811A-4ADA-356A-952E-59CBDF31D5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/>
              <a:t>Invite questions and discussion.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84189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D8E10-9657-7F0A-7165-013FD9E05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90C33B-FF47-48E1-EB9B-1A759C9E9B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EED4D6-31DB-C440-8536-4F864F385D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B0E76C-F12F-E7E2-D8C4-F857AFF2AF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6069709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E12F57E-A79B-23D7-B8F4-E70E5DD10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0066"/>
            <a:ext cx="9144000" cy="910889"/>
          </a:xfrm>
          <a:solidFill>
            <a:srgbClr val="EDEBDF"/>
          </a:solidFill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tx2"/>
                </a:solidFill>
              </a:rPr>
              <a:t>Applied</a:t>
            </a:r>
            <a:r>
              <a:rPr lang="en-US" sz="3200" dirty="0"/>
              <a:t> </a:t>
            </a:r>
            <a:r>
              <a:rPr lang="en-US" sz="3200" b="1" dirty="0">
                <a:solidFill>
                  <a:schemeClr val="tx2"/>
                </a:solidFill>
              </a:rPr>
              <a:t>Calculus in Machine Learning</a:t>
            </a:r>
            <a:endParaRPr sz="3200" b="1" dirty="0">
              <a:solidFill>
                <a:schemeClr val="tx2"/>
              </a:solidFill>
            </a:endParaRP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095949BF-35B6-02E5-BC31-41348EE6D1C7}"/>
              </a:ext>
            </a:extLst>
          </p:cNvPr>
          <p:cNvSpPr/>
          <p:nvPr/>
        </p:nvSpPr>
        <p:spPr>
          <a:xfrm>
            <a:off x="0" y="6333498"/>
            <a:ext cx="914400" cy="524502"/>
          </a:xfrm>
          <a:prstGeom prst="homePlat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D6B674-32EB-C3AD-2B85-6F88022D00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284" y="1062001"/>
            <a:ext cx="7107936" cy="45928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6972F00-54DB-99DA-B65F-3C6F24D6463E}"/>
              </a:ext>
            </a:extLst>
          </p:cNvPr>
          <p:cNvSpPr txBox="1"/>
          <p:nvPr/>
        </p:nvSpPr>
        <p:spPr>
          <a:xfrm>
            <a:off x="1088136" y="5977176"/>
            <a:ext cx="69677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Differential calculus tells the model </a:t>
            </a:r>
            <a:r>
              <a:rPr lang="en-US" b="1" dirty="0"/>
              <a:t>how to change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Integral calculus tells the model </a:t>
            </a:r>
            <a:r>
              <a:rPr lang="en-US" b="1" dirty="0"/>
              <a:t>what to expect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3518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D01D9-C8AE-E8AD-FEF2-D8A4C6B75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4850B07-6E33-15EA-4B8B-C72A32C32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0066"/>
            <a:ext cx="9144000" cy="910889"/>
          </a:xfrm>
          <a:solidFill>
            <a:srgbClr val="EDEBDF"/>
          </a:solidFill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chemeClr val="tx2"/>
                </a:solidFill>
              </a:rPr>
              <a:t>Derivative step by step</a:t>
            </a:r>
            <a:br>
              <a:rPr lang="en-US" sz="3200" b="1" dirty="0">
                <a:solidFill>
                  <a:schemeClr val="tx2"/>
                </a:solidFill>
              </a:rPr>
            </a:br>
            <a:r>
              <a:rPr lang="en-US" sz="2200" b="1" dirty="0"/>
              <a:t>Derivative = how fast y changes when x changes a little</a:t>
            </a:r>
            <a:endParaRPr sz="2200" b="1" dirty="0"/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56A3C63F-3042-FC44-8CC1-4A83174F3828}"/>
              </a:ext>
            </a:extLst>
          </p:cNvPr>
          <p:cNvSpPr/>
          <p:nvPr/>
        </p:nvSpPr>
        <p:spPr>
          <a:xfrm>
            <a:off x="0" y="6333498"/>
            <a:ext cx="914400" cy="524502"/>
          </a:xfrm>
          <a:prstGeom prst="homePlat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F522F29-8553-816F-C2C9-1565282C9C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168" y="998574"/>
            <a:ext cx="5082248" cy="3801441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A728AC9-CD26-E83B-1AC0-0E1940308C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2629274"/>
              </p:ext>
            </p:extLst>
          </p:nvPr>
        </p:nvGraphicFramePr>
        <p:xfrm>
          <a:off x="445168" y="4926573"/>
          <a:ext cx="2382253" cy="1336715"/>
        </p:xfrm>
        <a:graphic>
          <a:graphicData uri="http://schemas.openxmlformats.org/drawingml/2006/table">
            <a:tbl>
              <a:tblPr/>
              <a:tblGrid>
                <a:gridCol w="970850">
                  <a:extLst>
                    <a:ext uri="{9D8B030D-6E8A-4147-A177-3AD203B41FA5}">
                      <a16:colId xmlns:a16="http://schemas.microsoft.com/office/drawing/2014/main" val="2584143698"/>
                    </a:ext>
                  </a:extLst>
                </a:gridCol>
                <a:gridCol w="1411403">
                  <a:extLst>
                    <a:ext uri="{9D8B030D-6E8A-4147-A177-3AD203B41FA5}">
                      <a16:colId xmlns:a16="http://schemas.microsoft.com/office/drawing/2014/main" val="574985782"/>
                    </a:ext>
                  </a:extLst>
                </a:gridCol>
              </a:tblGrid>
              <a:tr h="3586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Math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ML 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7366002"/>
                  </a:ext>
                </a:extLst>
              </a:tr>
              <a:tr h="6194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Model parameters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2566962"/>
                  </a:ext>
                </a:extLst>
              </a:tr>
              <a:tr h="3586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Loss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338833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7AFC0F4-73E7-5314-2FB6-2A4D84BBE2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0328858"/>
              </p:ext>
            </p:extLst>
          </p:nvPr>
        </p:nvGraphicFramePr>
        <p:xfrm>
          <a:off x="2966879" y="4922169"/>
          <a:ext cx="3128210" cy="1341120"/>
        </p:xfrm>
        <a:graphic>
          <a:graphicData uri="http://schemas.openxmlformats.org/drawingml/2006/table">
            <a:tbl>
              <a:tblPr/>
              <a:tblGrid>
                <a:gridCol w="738805">
                  <a:extLst>
                    <a:ext uri="{9D8B030D-6E8A-4147-A177-3AD203B41FA5}">
                      <a16:colId xmlns:a16="http://schemas.microsoft.com/office/drawing/2014/main" val="2584143698"/>
                    </a:ext>
                  </a:extLst>
                </a:gridCol>
                <a:gridCol w="2389405">
                  <a:extLst>
                    <a:ext uri="{9D8B030D-6E8A-4147-A177-3AD203B41FA5}">
                      <a16:colId xmlns:a16="http://schemas.microsoft.com/office/drawing/2014/main" val="5749857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Math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ML 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7366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600" dirty="0"/>
                        <a:t>Δ</a:t>
                      </a:r>
                      <a:r>
                        <a:rPr lang="en-IN" sz="1600" dirty="0"/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Small parameter update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5881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600"/>
                        <a:t>Δ</a:t>
                      </a:r>
                      <a:r>
                        <a:rPr lang="en-IN" sz="160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Change in loss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38151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 err="1"/>
                        <a:t>dy</a:t>
                      </a:r>
                      <a:r>
                        <a:rPr lang="en-IN" sz="1600" dirty="0"/>
                        <a:t>/dx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Gradient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1007994"/>
                  </a:ext>
                </a:extLst>
              </a:tr>
            </a:tbl>
          </a:graphicData>
        </a:graphic>
      </p:graphicFrame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91EA0F1-8B49-19FA-7D9D-A8110C83B5E1}"/>
              </a:ext>
            </a:extLst>
          </p:cNvPr>
          <p:cNvSpPr/>
          <p:nvPr/>
        </p:nvSpPr>
        <p:spPr>
          <a:xfrm>
            <a:off x="5642810" y="1018194"/>
            <a:ext cx="3344779" cy="2349409"/>
          </a:xfrm>
          <a:prstGeom prst="roundRect">
            <a:avLst>
              <a:gd name="adj" fmla="val 926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600" dirty="0">
                <a:solidFill>
                  <a:schemeClr val="tx1"/>
                </a:solidFill>
              </a:rPr>
              <a:t>This is the </a:t>
            </a:r>
            <a:r>
              <a:rPr lang="en-US" sz="1600" b="1" dirty="0">
                <a:solidFill>
                  <a:schemeClr val="tx1"/>
                </a:solidFill>
              </a:rPr>
              <a:t>core idea of derivatives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</a:p>
          <a:p>
            <a:r>
              <a:rPr lang="en-US" sz="1600" dirty="0">
                <a:solidFill>
                  <a:schemeClr val="tx1"/>
                </a:solidFill>
              </a:rPr>
              <a:t>x → input (parameter, feature, weight)</a:t>
            </a:r>
          </a:p>
          <a:p>
            <a:r>
              <a:rPr lang="en-US" sz="1600" dirty="0">
                <a:solidFill>
                  <a:schemeClr val="tx1"/>
                </a:solidFill>
              </a:rPr>
              <a:t>y → output (loss, prediction, function value)</a:t>
            </a:r>
          </a:p>
          <a:p>
            <a:pPr>
              <a:buNone/>
            </a:pPr>
            <a:r>
              <a:rPr lang="en-US" sz="1600" dirty="0">
                <a:solidFill>
                  <a:schemeClr val="tx1"/>
                </a:solidFill>
              </a:rPr>
              <a:t>In ML terms:</a:t>
            </a:r>
          </a:p>
          <a:p>
            <a:pPr>
              <a:buNone/>
            </a:pPr>
            <a:r>
              <a:rPr lang="en-US" sz="1600" i="1" dirty="0">
                <a:solidFill>
                  <a:schemeClr val="tx1"/>
                </a:solidFill>
              </a:rPr>
              <a:t>If I slightly change a parameter, </a:t>
            </a:r>
          </a:p>
          <a:p>
            <a:pPr>
              <a:buNone/>
            </a:pPr>
            <a:r>
              <a:rPr lang="en-US" sz="1600" i="1" dirty="0">
                <a:solidFill>
                  <a:schemeClr val="tx1"/>
                </a:solidFill>
              </a:rPr>
              <a:t>how much does the loss change?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2FD5FF4-2973-DF57-E32E-41DF00F05426}"/>
              </a:ext>
            </a:extLst>
          </p:cNvPr>
          <p:cNvSpPr/>
          <p:nvPr/>
        </p:nvSpPr>
        <p:spPr>
          <a:xfrm>
            <a:off x="6234547" y="3429000"/>
            <a:ext cx="2753042" cy="320864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 The curve represents a </a:t>
            </a:r>
            <a:r>
              <a:rPr lang="en-US" sz="1600" b="1" dirty="0">
                <a:solidFill>
                  <a:schemeClr val="tx1"/>
                </a:solidFill>
              </a:rPr>
              <a:t>function</a:t>
            </a:r>
            <a:r>
              <a:rPr lang="en-US" sz="1600" dirty="0">
                <a:solidFill>
                  <a:schemeClr val="tx1"/>
                </a:solidFill>
              </a:rPr>
              <a:t> (e.g., loss function)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 Point </a:t>
            </a:r>
            <a:r>
              <a:rPr lang="en-US" sz="1600" b="1" dirty="0">
                <a:solidFill>
                  <a:schemeClr val="tx1"/>
                </a:solidFill>
              </a:rPr>
              <a:t>A(2,2.30)</a:t>
            </a:r>
            <a:r>
              <a:rPr lang="en-US" sz="1600" dirty="0">
                <a:solidFill>
                  <a:schemeClr val="tx1"/>
                </a:solidFill>
              </a:rPr>
              <a:t> is the current position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 Point </a:t>
            </a:r>
            <a:r>
              <a:rPr lang="en-US" sz="1600" b="1" dirty="0">
                <a:solidFill>
                  <a:schemeClr val="tx1"/>
                </a:solidFill>
              </a:rPr>
              <a:t>B(5,5.37)</a:t>
            </a:r>
            <a:r>
              <a:rPr lang="en-US" sz="1600" dirty="0">
                <a:solidFill>
                  <a:schemeClr val="tx1"/>
                </a:solidFill>
              </a:rPr>
              <a:t> is a nearby position after a small step in x</a:t>
            </a:r>
          </a:p>
          <a:p>
            <a:pPr>
              <a:buNone/>
            </a:pPr>
            <a:r>
              <a:rPr lang="en-US" dirty="0">
                <a:solidFill>
                  <a:schemeClr val="tx1"/>
                </a:solidFill>
              </a:rPr>
              <a:t>These two points are </a:t>
            </a:r>
            <a:r>
              <a:rPr lang="en-US" b="1" dirty="0">
                <a:solidFill>
                  <a:schemeClr val="tx1"/>
                </a:solidFill>
              </a:rPr>
              <a:t>not far apart</a:t>
            </a:r>
            <a:r>
              <a:rPr lang="en-US" dirty="0">
                <a:solidFill>
                  <a:schemeClr val="tx1"/>
                </a:solidFill>
              </a:rPr>
              <a:t> — this is important.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553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CE81D-D9B7-4731-B01D-2E3042AC9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090448B-0491-85B7-FC56-3D24A7472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0066"/>
            <a:ext cx="9144000" cy="910889"/>
          </a:xfrm>
          <a:solidFill>
            <a:srgbClr val="EDEBDF"/>
          </a:solidFill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tx2"/>
                </a:solidFill>
              </a:rPr>
              <a:t>Derivative Rules:</a:t>
            </a:r>
            <a:r>
              <a:rPr lang="en-US" sz="3200" b="1" dirty="0">
                <a:solidFill>
                  <a:schemeClr val="tx2"/>
                </a:solidFill>
              </a:rPr>
              <a:t>fundamental and most used in ML</a:t>
            </a:r>
            <a:endParaRPr sz="3200" b="1" dirty="0">
              <a:solidFill>
                <a:schemeClr val="tx2"/>
              </a:solidFill>
            </a:endParaRP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9C08BDE5-6F13-351B-75D0-50EC335F7AE7}"/>
              </a:ext>
            </a:extLst>
          </p:cNvPr>
          <p:cNvSpPr/>
          <p:nvPr/>
        </p:nvSpPr>
        <p:spPr>
          <a:xfrm>
            <a:off x="0" y="6333498"/>
            <a:ext cx="914400" cy="524502"/>
          </a:xfrm>
          <a:prstGeom prst="homePlat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471D2FF-0F57-EA22-3388-B994DCBBC1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4304343"/>
              </p:ext>
            </p:extLst>
          </p:nvPr>
        </p:nvGraphicFramePr>
        <p:xfrm>
          <a:off x="420624" y="1078965"/>
          <a:ext cx="8229600" cy="2560320"/>
        </p:xfrm>
        <a:graphic>
          <a:graphicData uri="http://schemas.openxmlformats.org/drawingml/2006/table">
            <a:tbl>
              <a:tblPr firstRow="1">
                <a:tableStyleId>{3C2FFA5D-87B4-456A-9821-1D502468CF0F}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36846948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7341576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Rule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Why it matters in ML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136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Constant</a:t>
                      </a:r>
                    </a:p>
                  </a:txBody>
                  <a:tcPr anchor="ctr">
                    <a:solidFill>
                      <a:srgbClr val="FEF4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No learning signal</a:t>
                      </a:r>
                    </a:p>
                  </a:txBody>
                  <a:tcPr anchor="ctr">
                    <a:solidFill>
                      <a:srgbClr val="FE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46417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Power</a:t>
                      </a:r>
                    </a:p>
                  </a:txBody>
                  <a:tcPr anchor="ctr">
                    <a:solidFill>
                      <a:srgbClr val="FEF4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Squared error, regularization</a:t>
                      </a:r>
                    </a:p>
                  </a:txBody>
                  <a:tcPr anchor="ctr">
                    <a:solidFill>
                      <a:srgbClr val="FE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0126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Sum</a:t>
                      </a:r>
                    </a:p>
                  </a:txBody>
                  <a:tcPr anchor="ctr">
                    <a:solidFill>
                      <a:srgbClr val="FEF4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Loss aggregation</a:t>
                      </a:r>
                    </a:p>
                  </a:txBody>
                  <a:tcPr anchor="ctr">
                    <a:solidFill>
                      <a:srgbClr val="FE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203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Chain</a:t>
                      </a:r>
                    </a:p>
                  </a:txBody>
                  <a:tcPr anchor="ctr">
                    <a:solidFill>
                      <a:srgbClr val="FEF4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Backpropagation</a:t>
                      </a:r>
                    </a:p>
                  </a:txBody>
                  <a:tcPr anchor="ctr">
                    <a:solidFill>
                      <a:srgbClr val="FE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10991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Exponential</a:t>
                      </a:r>
                    </a:p>
                  </a:txBody>
                  <a:tcPr anchor="ctr">
                    <a:solidFill>
                      <a:srgbClr val="FEF4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Softmax</a:t>
                      </a:r>
                      <a:r>
                        <a:rPr lang="en-IN" dirty="0"/>
                        <a:t>, sigmoid</a:t>
                      </a:r>
                    </a:p>
                  </a:txBody>
                  <a:tcPr anchor="ctr">
                    <a:solidFill>
                      <a:srgbClr val="FE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0902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Logarithmic</a:t>
                      </a:r>
                    </a:p>
                  </a:txBody>
                  <a:tcPr anchor="ctr">
                    <a:solidFill>
                      <a:srgbClr val="FEF4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Log-loss, likelihood</a:t>
                      </a:r>
                    </a:p>
                  </a:txBody>
                  <a:tcPr anchor="ctr">
                    <a:solidFill>
                      <a:srgbClr val="FE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378564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FC35B13-A1CA-26D5-0CFA-AF0F5A53B3B9}"/>
                  </a:ext>
                </a:extLst>
              </p:cNvPr>
              <p:cNvSpPr txBox="1"/>
              <p:nvPr/>
            </p:nvSpPr>
            <p:spPr>
              <a:xfrm>
                <a:off x="420624" y="3909418"/>
                <a:ext cx="3982934" cy="172624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Constant Rule</a:t>
                </a:r>
              </a:p>
              <a:p>
                <a:pPr>
                  <a:buNone/>
                </a:pPr>
                <a:endParaRPr lang="en-IN" b="1" dirty="0"/>
              </a:p>
              <a:p>
                <a:pPr>
                  <a:buNone/>
                </a:pPr>
                <a:r>
                  <a:rPr lang="en-IN" dirty="0"/>
                  <a:t>If a value does </a:t>
                </a:r>
                <a:r>
                  <a:rPr lang="en-IN" b="1" dirty="0"/>
                  <a:t>not change</a:t>
                </a:r>
                <a:r>
                  <a:rPr lang="en-IN" dirty="0"/>
                  <a:t>, its derivative is zero. Constants don’t affect learning.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ar-AE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FC35B13-A1CA-26D5-0CFA-AF0F5A53B3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624" y="3909418"/>
                <a:ext cx="3982934" cy="1726242"/>
              </a:xfrm>
              <a:prstGeom prst="rect">
                <a:avLst/>
              </a:prstGeom>
              <a:blipFill>
                <a:blip r:embed="rId3"/>
                <a:stretch>
                  <a:fillRect l="-1069" t="-1404" r="-76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A6DB264-E737-FC88-AF16-0B3B58BC3961}"/>
                  </a:ext>
                </a:extLst>
              </p:cNvPr>
              <p:cNvSpPr txBox="1"/>
              <p:nvPr/>
            </p:nvSpPr>
            <p:spPr>
              <a:xfrm>
                <a:off x="4572000" y="3817816"/>
                <a:ext cx="4078224" cy="28011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Power Rule (Most Used)</a:t>
                </a:r>
              </a:p>
              <a:p>
                <a:pPr>
                  <a:buNone/>
                </a:pPr>
                <a:endParaRPr lang="en-IN" b="1" dirty="0"/>
              </a:p>
              <a:p>
                <a:pPr>
                  <a:buNone/>
                </a:pPr>
                <a:r>
                  <a:rPr lang="en-IN" dirty="0"/>
                  <a:t>If a variable is raised to a power: Squared error loss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𝑛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en-IN" b="1" dirty="0"/>
                  <a:t>Examples:</a:t>
                </a:r>
                <a:endParaRPr lang="en-IN" dirty="0"/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i="1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ar-AE" i="1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ar-AE" dirty="0"/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i="1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ar-AE" i="1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ar-AE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ar-AE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A6DB264-E737-FC88-AF16-0B3B58BC39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3817816"/>
                <a:ext cx="4078224" cy="2801151"/>
              </a:xfrm>
              <a:prstGeom prst="rect">
                <a:avLst/>
              </a:prstGeom>
              <a:blipFill>
                <a:blip r:embed="rId4"/>
                <a:stretch>
                  <a:fillRect l="-1196" t="-1087" r="-74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1587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069F0-CC7C-ED51-77D7-CE9051944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63D6CF1-79D9-751A-D8C3-6119E3BE6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0066"/>
            <a:ext cx="9144000" cy="910889"/>
          </a:xfrm>
          <a:solidFill>
            <a:srgbClr val="EDEBDF"/>
          </a:solidFill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tx2"/>
                </a:solidFill>
              </a:rPr>
              <a:t>Derivative Rules continued</a:t>
            </a:r>
            <a:endParaRPr sz="3200" b="1" dirty="0">
              <a:solidFill>
                <a:schemeClr val="tx2"/>
              </a:solidFill>
            </a:endParaRP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E22D46FB-B3B9-A754-578A-F064ABFDB34C}"/>
              </a:ext>
            </a:extLst>
          </p:cNvPr>
          <p:cNvSpPr/>
          <p:nvPr/>
        </p:nvSpPr>
        <p:spPr>
          <a:xfrm>
            <a:off x="0" y="6333498"/>
            <a:ext cx="914400" cy="524502"/>
          </a:xfrm>
          <a:prstGeom prst="homePlat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86BC8E-16AF-82BD-92AD-2257DD9D4D64}"/>
              </a:ext>
            </a:extLst>
          </p:cNvPr>
          <p:cNvSpPr txBox="1"/>
          <p:nvPr/>
        </p:nvSpPr>
        <p:spPr>
          <a:xfrm>
            <a:off x="989477" y="898365"/>
            <a:ext cx="767325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Chain Rule ( Most Important for ML)</a:t>
            </a:r>
          </a:p>
          <a:p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Takes </a:t>
            </a:r>
            <a:r>
              <a:rPr lang="en-US" b="1" dirty="0"/>
              <a:t>median income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Uses it to predict </a:t>
            </a:r>
            <a:r>
              <a:rPr lang="en-US" b="1" dirty="0"/>
              <a:t>house price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Compares prediction with </a:t>
            </a:r>
            <a:r>
              <a:rPr lang="en-US" b="1" dirty="0"/>
              <a:t>actual price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Computes </a:t>
            </a:r>
            <a:r>
              <a:rPr lang="en-US" b="1" dirty="0"/>
              <a:t>loss (error)</a:t>
            </a:r>
          </a:p>
          <a:p>
            <a:endParaRPr lang="en-US" dirty="0"/>
          </a:p>
          <a:p>
            <a:pPr>
              <a:buNone/>
            </a:pPr>
            <a:r>
              <a:rPr lang="en-US" dirty="0"/>
              <a:t>So, the loss does </a:t>
            </a:r>
            <a:r>
              <a:rPr lang="en-US" b="1" dirty="0"/>
              <a:t>not</a:t>
            </a:r>
            <a:r>
              <a:rPr lang="en-US" dirty="0"/>
              <a:t> depend on income directly. It depends on income </a:t>
            </a:r>
            <a:r>
              <a:rPr lang="en-US" b="1" dirty="0"/>
              <a:t>through multiple steps</a:t>
            </a:r>
            <a:r>
              <a:rPr lang="en-US" dirty="0"/>
              <a:t>.</a:t>
            </a:r>
          </a:p>
          <a:p>
            <a:endParaRPr lang="en-IN" dirty="0"/>
          </a:p>
          <a:p>
            <a:r>
              <a:rPr lang="en-IN" b="1" dirty="0"/>
              <a:t>w → predicted price (ŷ) → loss (L)</a:t>
            </a:r>
          </a:p>
          <a:p>
            <a:pPr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D91C680-A10D-4F18-338E-EFF60B25787E}"/>
                  </a:ext>
                </a:extLst>
              </p:cNvPr>
              <p:cNvSpPr txBox="1"/>
              <p:nvPr/>
            </p:nvSpPr>
            <p:spPr>
              <a:xfrm>
                <a:off x="989477" y="4157458"/>
                <a:ext cx="6486144" cy="257788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Chain rule written for this example</a:t>
                </a:r>
              </a:p>
              <a:p>
                <a:pPr>
                  <a:buNone/>
                </a:pPr>
                <a:r>
                  <a:rPr lang="en-IN" dirty="0"/>
                  <a:t>We want: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𝑑𝐿</m:t>
                          </m:r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𝑑𝑤</m:t>
                          </m:r>
                        </m:den>
                      </m:f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en-IN" dirty="0"/>
                  <a:t>But since: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, </m:t>
                      </m:r>
                      <m:acc>
                        <m:accPr>
                          <m:chr m:val="̂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en-IN" dirty="0"/>
                  <a:t>The chain rule says: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𝑑𝐿</m:t>
                          </m:r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𝑑𝑤</m:t>
                          </m:r>
                        </m:den>
                      </m:f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𝑑𝐿</m:t>
                          </m:r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̂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den>
                      </m:f>
                      <m:r>
                        <a:rPr lang="ar-AE" i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̂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𝑑𝑤</m:t>
                          </m:r>
                        </m:den>
                      </m:f>
                    </m:oMath>
                  </m:oMathPara>
                </a14:m>
                <a:endParaRPr lang="ar-AE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D91C680-A10D-4F18-338E-EFF60B2578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477" y="4157458"/>
                <a:ext cx="6486144" cy="2577885"/>
              </a:xfrm>
              <a:prstGeom prst="rect">
                <a:avLst/>
              </a:prstGeom>
              <a:blipFill>
                <a:blip r:embed="rId3"/>
                <a:stretch>
                  <a:fillRect l="-657" t="-117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0280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B0F36-791D-D979-524B-8C00E2422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B935E47-0119-92B8-8C6A-8D7E908CE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0066"/>
            <a:ext cx="9144000" cy="910889"/>
          </a:xfrm>
          <a:solidFill>
            <a:srgbClr val="EDEBDF"/>
          </a:solidFill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chemeClr val="tx2"/>
                </a:solidFill>
              </a:rPr>
              <a:t>Visualizing Machine Learning Through Derivatives</a:t>
            </a:r>
            <a:br>
              <a:rPr lang="en-US" sz="3600" b="1" dirty="0">
                <a:solidFill>
                  <a:schemeClr val="tx2"/>
                </a:solidFill>
              </a:rPr>
            </a:br>
            <a:r>
              <a:rPr lang="en-US" sz="2200" b="1" dirty="0"/>
              <a:t>How gradient descent learns: California housing price prediction</a:t>
            </a:r>
            <a:endParaRPr sz="2200" b="1" dirty="0"/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76FD76F3-9F16-DA0C-5389-825A5556A576}"/>
              </a:ext>
            </a:extLst>
          </p:cNvPr>
          <p:cNvSpPr/>
          <p:nvPr/>
        </p:nvSpPr>
        <p:spPr>
          <a:xfrm>
            <a:off x="0" y="6333498"/>
            <a:ext cx="914400" cy="524502"/>
          </a:xfrm>
          <a:prstGeom prst="homePlat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8712D00F-9BA1-047D-A03F-8F056F7540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6389" y="1342864"/>
                <a:ext cx="5138928" cy="1810510"/>
              </a:xfrm>
            </p:spPr>
            <p:txBody>
              <a:bodyPr>
                <a:normAutofit/>
              </a:bodyPr>
              <a:lstStyle/>
              <a:p>
                <a:r>
                  <a:rPr lang="en-US" sz="1800" b="1" dirty="0"/>
                  <a:t>Dataset:</a:t>
                </a:r>
                <a:r>
                  <a:rPr lang="en-US" sz="1800" dirty="0"/>
                  <a:t> California Housing </a:t>
                </a:r>
              </a:p>
              <a:p>
                <a:r>
                  <a:rPr lang="en-US" sz="1800" b="1" dirty="0"/>
                  <a:t>Simple Model:</a:t>
                </a:r>
                <a:r>
                  <a:rPr lang="en-US" sz="1800" dirty="0"/>
                  <a:t> Linear regression</a:t>
                </a:r>
              </a:p>
              <a:p>
                <a:r>
                  <a:rPr lang="en-US" sz="1800" b="1" dirty="0"/>
                  <a:t>Learning Goal:</a:t>
                </a:r>
                <a:r>
                  <a:rPr lang="en-US" sz="1800" dirty="0"/>
                  <a:t> Find best slope (w) and intercept (b) for:</a:t>
                </a:r>
              </a:p>
              <a:p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sz="1800" dirty="0"/>
              </a:p>
              <a:p>
                <a:endParaRPr dirty="0"/>
              </a:p>
            </p:txBody>
          </p:sp>
        </mc:Choice>
        <mc:Fallback xmlns="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8712D00F-9BA1-047D-A03F-8F056F7540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6389" y="1342864"/>
                <a:ext cx="5138928" cy="1810510"/>
              </a:xfrm>
              <a:blipFill>
                <a:blip r:embed="rId3"/>
                <a:stretch>
                  <a:fillRect l="-830" t="-168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C706EEE1-CF96-C92A-A56B-3946C8915607}"/>
              </a:ext>
            </a:extLst>
          </p:cNvPr>
          <p:cNvSpPr txBox="1"/>
          <p:nvPr/>
        </p:nvSpPr>
        <p:spPr>
          <a:xfrm>
            <a:off x="546389" y="3704626"/>
            <a:ext cx="4917391" cy="230832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IN" dirty="0"/>
              <a:t>x → input feature</a:t>
            </a:r>
          </a:p>
          <a:p>
            <a:r>
              <a:rPr lang="en-IN" dirty="0"/>
              <a:t>(Median income in a </a:t>
            </a:r>
            <a:r>
              <a:rPr lang="en-IN" dirty="0" err="1"/>
              <a:t>neighborhood</a:t>
            </a:r>
            <a:r>
              <a:rPr lang="en-IN" dirty="0"/>
              <a:t>)</a:t>
            </a:r>
          </a:p>
          <a:p>
            <a:r>
              <a:rPr lang="en-IN" dirty="0"/>
              <a:t>ŷ → predicted output</a:t>
            </a:r>
          </a:p>
          <a:p>
            <a:r>
              <a:rPr lang="en-US" dirty="0"/>
              <a:t>w = </a:t>
            </a:r>
            <a:r>
              <a:rPr lang="en-IN" dirty="0"/>
              <a:t>weight , </a:t>
            </a:r>
            <a:r>
              <a:rPr lang="en-US" dirty="0"/>
              <a:t>slope of the line</a:t>
            </a:r>
          </a:p>
          <a:p>
            <a:r>
              <a:rPr lang="en-US" dirty="0"/>
              <a:t>	Large w → steep line</a:t>
            </a:r>
          </a:p>
          <a:p>
            <a:r>
              <a:rPr lang="en-US" dirty="0"/>
              <a:t>	Small w → flat line</a:t>
            </a:r>
          </a:p>
          <a:p>
            <a:r>
              <a:rPr lang="en-US" dirty="0"/>
              <a:t>b is the baseline prediction when x = 0`.y-intercept</a:t>
            </a:r>
          </a:p>
          <a:p>
            <a:r>
              <a:rPr lang="en-US" dirty="0"/>
              <a:t>Shifts the entire line up or down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AEDF8B-3CCD-179A-6CE5-0406868BDA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3780" y="1077080"/>
            <a:ext cx="3511730" cy="2635385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769F3F9-0088-3D75-E547-FF15091A500F}"/>
              </a:ext>
            </a:extLst>
          </p:cNvPr>
          <p:cNvSpPr/>
          <p:nvPr/>
        </p:nvSpPr>
        <p:spPr>
          <a:xfrm>
            <a:off x="5745696" y="3954580"/>
            <a:ext cx="3229814" cy="2542474"/>
          </a:xfrm>
          <a:prstGeom prst="roundRect">
            <a:avLst>
              <a:gd name="adj" fmla="val 956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0F1115"/>
                </a:solidFill>
              </a:rPr>
              <a:t>Initial Parameters: </a:t>
            </a:r>
            <a:br>
              <a:rPr lang="en-US" b="1" dirty="0">
                <a:solidFill>
                  <a:srgbClr val="0F1115"/>
                </a:solidFill>
              </a:rPr>
            </a:br>
            <a:r>
              <a:rPr lang="en-US" dirty="0">
                <a:solidFill>
                  <a:srgbClr val="0F1115"/>
                </a:solidFill>
              </a:rPr>
              <a:t>Weight (w) = 0 </a:t>
            </a:r>
            <a:br>
              <a:rPr lang="en-US" dirty="0">
                <a:solidFill>
                  <a:srgbClr val="0F1115"/>
                </a:solidFill>
              </a:rPr>
            </a:br>
            <a:r>
              <a:rPr lang="en-US" dirty="0">
                <a:solidFill>
                  <a:srgbClr val="0F1115"/>
                </a:solidFill>
              </a:rPr>
              <a:t>Bias (b) = 0</a:t>
            </a:r>
            <a:br>
              <a:rPr lang="en-US" dirty="0">
                <a:solidFill>
                  <a:srgbClr val="0F1115"/>
                </a:solidFill>
              </a:rPr>
            </a:br>
            <a:r>
              <a:rPr lang="en-US" b="1" dirty="0">
                <a:solidFill>
                  <a:srgbClr val="0F1115"/>
                </a:solidFill>
              </a:rPr>
              <a:t>Result:</a:t>
            </a:r>
            <a:r>
              <a:rPr lang="en-US" dirty="0">
                <a:solidFill>
                  <a:srgbClr val="0F1115"/>
                </a:solidFill>
              </a:rPr>
              <a:t> Flat line at y=0</a:t>
            </a:r>
            <a:br>
              <a:rPr lang="en-US" dirty="0">
                <a:solidFill>
                  <a:srgbClr val="0F1115"/>
                </a:solidFill>
              </a:rPr>
            </a:br>
            <a:r>
              <a:rPr lang="en-US" b="1" dirty="0">
                <a:solidFill>
                  <a:srgbClr val="0F1115"/>
                </a:solidFill>
              </a:rPr>
              <a:t>Loss:</a:t>
            </a:r>
            <a:r>
              <a:rPr lang="en-US" dirty="0">
                <a:solidFill>
                  <a:srgbClr val="0F1115"/>
                </a:solidFill>
              </a:rPr>
              <a:t> 0.7617 (Mean Squared Error)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2044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E43C8-336A-A02F-3D70-9440903F3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05B3082-DCAD-D047-1898-22049E227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0066"/>
            <a:ext cx="9144000" cy="910889"/>
          </a:xfrm>
          <a:solidFill>
            <a:srgbClr val="EDEBDF"/>
          </a:solidFill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chemeClr val="tx2"/>
                </a:solidFill>
              </a:rPr>
              <a:t>Visualizing Machine Learning Through Derivatives</a:t>
            </a:r>
            <a:br>
              <a:rPr lang="en-US" sz="3600" b="1" dirty="0">
                <a:solidFill>
                  <a:schemeClr val="tx2"/>
                </a:solidFill>
              </a:rPr>
            </a:br>
            <a:r>
              <a:rPr lang="en-US" sz="2200" b="1" dirty="0"/>
              <a:t>How gradient descent learns: California housing price prediction</a:t>
            </a:r>
            <a:endParaRPr sz="2200" b="1" dirty="0"/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34E0BBD5-C371-2950-2398-ACAD5ED1487E}"/>
              </a:ext>
            </a:extLst>
          </p:cNvPr>
          <p:cNvSpPr/>
          <p:nvPr/>
        </p:nvSpPr>
        <p:spPr>
          <a:xfrm>
            <a:off x="0" y="6333498"/>
            <a:ext cx="914400" cy="524502"/>
          </a:xfrm>
          <a:prstGeom prst="homePlat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427AE09-3AC0-4F1C-C4E4-AF715B49E66F}"/>
                  </a:ext>
                </a:extLst>
              </p:cNvPr>
              <p:cNvSpPr txBox="1"/>
              <p:nvPr/>
            </p:nvSpPr>
            <p:spPr>
              <a:xfrm>
                <a:off x="372979" y="968992"/>
                <a:ext cx="4981074" cy="27392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b="1" i="0" dirty="0">
                    <a:solidFill>
                      <a:srgbClr val="0F1115"/>
                    </a:solidFill>
                    <a:effectLst/>
                  </a:rPr>
                  <a:t>Goal:</a:t>
                </a:r>
                <a:r>
                  <a:rPr lang="en-US" b="0" i="0" dirty="0">
                    <a:solidFill>
                      <a:srgbClr val="0F1115"/>
                    </a:solidFill>
                    <a:effectLst/>
                  </a:rPr>
                  <a:t> Minimize loss function</a:t>
                </a:r>
                <a:br>
                  <a:rPr lang="en-US" b="0" i="0" dirty="0">
                    <a:solidFill>
                      <a:srgbClr val="0F1115"/>
                    </a:solidFill>
                    <a:effectLst/>
                  </a:rPr>
                </a:br>
                <a:r>
                  <a:rPr lang="en-US" b="1" i="0" dirty="0">
                    <a:solidFill>
                      <a:srgbClr val="0F1115"/>
                    </a:solidFill>
                    <a:effectLst/>
                  </a:rPr>
                  <a:t>Method:</a:t>
                </a:r>
                <a:r>
                  <a:rPr lang="en-US" b="0" i="0" dirty="0">
                    <a:solidFill>
                      <a:srgbClr val="0F1115"/>
                    </a:solidFill>
                    <a:effectLst/>
                  </a:rPr>
                  <a:t> Follow the gradient downhill</a:t>
                </a:r>
                <a:br>
                  <a:rPr lang="en-US" b="0" i="0" dirty="0">
                    <a:solidFill>
                      <a:srgbClr val="0F1115"/>
                    </a:solidFill>
                    <a:effectLst/>
                  </a:rPr>
                </a:br>
                <a:r>
                  <a:rPr lang="en-US" b="1" i="0" dirty="0">
                    <a:solidFill>
                      <a:srgbClr val="0F1115"/>
                    </a:solidFill>
                    <a:effectLst/>
                  </a:rPr>
                  <a:t>Key Steps:</a:t>
                </a:r>
                <a:br>
                  <a:rPr lang="en-US" b="1" i="0" dirty="0">
                    <a:solidFill>
                      <a:srgbClr val="0F1115"/>
                    </a:solidFill>
                    <a:effectLst/>
                  </a:rPr>
                </a:br>
                <a:r>
                  <a:rPr lang="en-US" b="1" i="0" dirty="0">
                    <a:solidFill>
                      <a:srgbClr val="0F1115"/>
                    </a:solidFill>
                    <a:effectLst/>
                  </a:rPr>
                  <a:t>	</a:t>
                </a:r>
                <a:r>
                  <a:rPr lang="en-US" b="0" i="0" dirty="0">
                    <a:solidFill>
                      <a:srgbClr val="0F1115"/>
                    </a:solidFill>
                    <a:effectLst/>
                  </a:rPr>
                  <a:t>Make predictions</a:t>
                </a:r>
                <a:br>
                  <a:rPr lang="en-US" b="0" i="0" dirty="0">
                    <a:solidFill>
                      <a:srgbClr val="0F1115"/>
                    </a:solidFill>
                    <a:effectLst/>
                  </a:rPr>
                </a:br>
                <a:r>
                  <a:rPr lang="en-US" b="0" i="0" dirty="0">
                    <a:solidFill>
                      <a:srgbClr val="0F1115"/>
                    </a:solidFill>
                    <a:effectLst/>
                  </a:rPr>
                  <a:t>	Calculate error</a:t>
                </a:r>
                <a:br>
                  <a:rPr lang="en-US" b="0" i="0" dirty="0">
                    <a:solidFill>
                      <a:srgbClr val="0F1115"/>
                    </a:solidFill>
                    <a:effectLst/>
                  </a:rPr>
                </a:br>
                <a:r>
                  <a:rPr lang="en-US" b="0" i="0" dirty="0">
                    <a:solidFill>
                      <a:srgbClr val="0F1115"/>
                    </a:solidFill>
                    <a:effectLst/>
                  </a:rPr>
                  <a:t>	Compute gradient</a:t>
                </a:r>
                <a:br>
                  <a:rPr lang="en-US" b="0" i="0" dirty="0">
                    <a:solidFill>
                      <a:srgbClr val="0F1115"/>
                    </a:solidFill>
                    <a:effectLst/>
                  </a:rPr>
                </a:br>
                <a:r>
                  <a:rPr lang="en-US" b="0" i="0" dirty="0">
                    <a:solidFill>
                      <a:srgbClr val="0F1115"/>
                    </a:solidFill>
                    <a:effectLst/>
                  </a:rPr>
                  <a:t>	Update parameters</a:t>
                </a:r>
                <a:br>
                  <a:rPr lang="en-US" b="0" i="0" dirty="0">
                    <a:solidFill>
                      <a:srgbClr val="0F1115"/>
                    </a:solidFill>
                    <a:effectLst/>
                  </a:rPr>
                </a:br>
                <a:r>
                  <a:rPr lang="en-US" b="1" i="0" dirty="0">
                    <a:solidFill>
                      <a:srgbClr val="0F1115"/>
                    </a:solidFill>
                    <a:effectLst/>
                  </a:rPr>
                  <a:t>Mathematical Core:</a:t>
                </a:r>
                <a:br>
                  <a:rPr lang="en-US" b="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600" b="0"/>
                        <m:t>New</m:t>
                      </m:r>
                      <m:r>
                        <m:rPr>
                          <m:nor/>
                        </m:rPr>
                        <a:rPr lang="en-US" sz="1600" b="0"/>
                        <m:t> </m:t>
                      </m:r>
                      <m:r>
                        <m:rPr>
                          <m:nor/>
                        </m:rPr>
                        <a:rPr lang="en-US" sz="1600" b="0"/>
                        <m:t>value</m:t>
                      </m:r>
                      <m:r>
                        <a:rPr lang="en-US" sz="1600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1600" b="0" i="1"/>
                        <m:t>Old</m:t>
                      </m:r>
                      <m:r>
                        <m:rPr>
                          <m:nor/>
                        </m:rPr>
                        <a:rPr lang="en-US" sz="1600" b="0" i="1"/>
                        <m:t> </m:t>
                      </m:r>
                      <m:r>
                        <m:rPr>
                          <m:nor/>
                        </m:rPr>
                        <a:rPr lang="en-US" sz="1600" b="0" i="1"/>
                        <m:t>value</m:t>
                      </m:r>
                      <m:r>
                        <a:rPr lang="en-US" sz="1600" b="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sz="1600" b="0" i="1"/>
                        <m:t>Learning</m:t>
                      </m:r>
                      <m:r>
                        <m:rPr>
                          <m:nor/>
                        </m:rPr>
                        <a:rPr lang="en-US" sz="1600" b="0" i="1"/>
                        <m:t> </m:t>
                      </m:r>
                      <m:r>
                        <m:rPr>
                          <m:nor/>
                        </m:rPr>
                        <a:rPr lang="en-US" sz="1600" b="0" i="1"/>
                        <m:t>Rate</m:t>
                      </m:r>
                      <m:r>
                        <a:rPr lang="en-US" sz="1600" b="0" i="0">
                          <a:latin typeface="Cambria Math" panose="020405030504060302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lang="en-US" sz="1600" b="0" i="1"/>
                        <m:t>Gradient</m:t>
                      </m:r>
                    </m:oMath>
                  </m:oMathPara>
                </a14:m>
                <a:endParaRPr lang="en-US" sz="1600" b="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427AE09-3AC0-4F1C-C4E4-AF715B49E6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979" y="968992"/>
                <a:ext cx="4981074" cy="2739211"/>
              </a:xfrm>
              <a:prstGeom prst="rect">
                <a:avLst/>
              </a:prstGeom>
              <a:blipFill>
                <a:blip r:embed="rId3"/>
                <a:stretch>
                  <a:fillRect l="-979" t="-13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CCE1501-35C7-1E50-903E-44A9EFC34F5E}"/>
                  </a:ext>
                </a:extLst>
              </p:cNvPr>
              <p:cNvSpPr txBox="1"/>
              <p:nvPr/>
            </p:nvSpPr>
            <p:spPr>
              <a:xfrm>
                <a:off x="372979" y="3807348"/>
                <a:ext cx="4042429" cy="244951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algn="l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r>
                  <a:rPr lang="en-IN" b="1" i="0" dirty="0">
                    <a:solidFill>
                      <a:srgbClr val="0F1115"/>
                    </a:solidFill>
                    <a:effectLst/>
                    <a:latin typeface="quote-cjk-patch"/>
                  </a:rPr>
                  <a:t>Loss Function:</a:t>
                </a:r>
                <a:r>
                  <a:rPr lang="en-IN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 Mean Squared Error</a:t>
                </a:r>
              </a:p>
              <a:p>
                <a:pPr algn="l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r>
                  <a:rPr lang="en-IN" b="1" i="0" dirty="0">
                    <a:solidFill>
                      <a:srgbClr val="0F1115"/>
                    </a:solidFill>
                    <a:effectLst/>
                    <a:latin typeface="quote-cjk-patch"/>
                  </a:rPr>
                  <a:t>Gradients:</a:t>
                </a:r>
                <a:endParaRPr lang="en-IN" b="0" i="0" dirty="0">
                  <a:solidFill>
                    <a:srgbClr val="0F1115"/>
                  </a:solidFill>
                  <a:effectLst/>
                  <a:latin typeface="quote-cjk-patch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  <m:r>
                        <a:rPr lang="ar-AE" i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grow m:val="on"/>
                          <m:subHide m:val="on"/>
                          <m:sup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grow m:val="on"/>
                          <m:subHide m:val="on"/>
                          <m:sup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/>
                      </m:nary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CCE1501-35C7-1E50-903E-44A9EFC34F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979" y="3807348"/>
                <a:ext cx="4042429" cy="2449517"/>
              </a:xfrm>
              <a:prstGeom prst="rect">
                <a:avLst/>
              </a:prstGeom>
              <a:blipFill>
                <a:blip r:embed="rId4"/>
                <a:stretch>
                  <a:fillRect l="-1053" t="-124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206C0342-D085-E9D9-778A-49C6C3DB35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7642" y="3812418"/>
            <a:ext cx="3702240" cy="27496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1E01B7-E015-34DB-0419-51C6D06AD9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7642" y="971775"/>
            <a:ext cx="3702240" cy="2749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719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7AEC2-E5AB-16A7-D4E3-9A89D4DC3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DCC44C3-9801-B25D-6DB2-375AC2CFF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0066"/>
            <a:ext cx="9144000" cy="910889"/>
          </a:xfrm>
          <a:solidFill>
            <a:srgbClr val="EDEBDF"/>
          </a:solidFill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chemeClr val="tx2"/>
                </a:solidFill>
              </a:rPr>
              <a:t>From Change to Expectation: Integral Calculus</a:t>
            </a:r>
            <a:br>
              <a:rPr lang="en-US" sz="3200" b="1" dirty="0">
                <a:solidFill>
                  <a:schemeClr val="tx2"/>
                </a:solidFill>
              </a:rPr>
            </a:br>
            <a:r>
              <a:rPr lang="en-US" sz="2200" b="1" dirty="0"/>
              <a:t>What Should We Expect for a House Price?</a:t>
            </a:r>
            <a:endParaRPr sz="2200" b="1" dirty="0"/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7C11553F-A44A-721D-CBA7-D74BB5A97719}"/>
              </a:ext>
            </a:extLst>
          </p:cNvPr>
          <p:cNvSpPr/>
          <p:nvPr/>
        </p:nvSpPr>
        <p:spPr>
          <a:xfrm>
            <a:off x="0" y="6333498"/>
            <a:ext cx="914400" cy="524502"/>
          </a:xfrm>
          <a:prstGeom prst="homePlat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290FD83-FE36-60E9-73C1-25DA14364A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866" y="1070484"/>
            <a:ext cx="4997217" cy="336916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A728CB5-B91A-7D87-9E0F-4734BB648CDD}"/>
              </a:ext>
            </a:extLst>
          </p:cNvPr>
          <p:cNvSpPr txBox="1"/>
          <p:nvPr/>
        </p:nvSpPr>
        <p:spPr>
          <a:xfrm>
            <a:off x="5570621" y="1070484"/>
            <a:ext cx="320451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 model does not predict one fixed house price</a:t>
            </a:r>
          </a:p>
          <a:p>
            <a:r>
              <a:rPr lang="en-IN" dirty="0"/>
              <a:t>It predicts a range of possible prices, each with a probability</a:t>
            </a:r>
          </a:p>
          <a:p>
            <a:r>
              <a:rPr lang="en-IN" dirty="0"/>
              <a:t>Integral calculus combines all these possibilities into one meaningful prediction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DEFCCB-63EB-02BF-4D96-CFE3A0335DCB}"/>
              </a:ext>
            </a:extLst>
          </p:cNvPr>
          <p:cNvSpPr txBox="1"/>
          <p:nvPr/>
        </p:nvSpPr>
        <p:spPr>
          <a:xfrm>
            <a:off x="5570620" y="3261846"/>
            <a:ext cx="3204513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IN" dirty="0"/>
              <a:t>X-axis: House Price</a:t>
            </a:r>
          </a:p>
          <a:p>
            <a:r>
              <a:rPr lang="en-IN" dirty="0"/>
              <a:t>Y-axis: Probability</a:t>
            </a:r>
          </a:p>
          <a:p>
            <a:r>
              <a:rPr lang="en-IN" dirty="0"/>
              <a:t>The curve shows how likely each price is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48F4D19-8D61-BFAC-0660-70F82230E45B}"/>
              </a:ext>
            </a:extLst>
          </p:cNvPr>
          <p:cNvSpPr/>
          <p:nvPr/>
        </p:nvSpPr>
        <p:spPr>
          <a:xfrm>
            <a:off x="368864" y="4565584"/>
            <a:ext cx="8406269" cy="1648326"/>
          </a:xfrm>
          <a:prstGeom prst="roundRect">
            <a:avLst>
              <a:gd name="adj" fmla="val 571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chemeClr val="tx1"/>
                </a:solidFill>
              </a:rPr>
              <a:t>Simple numeric intuition (</a:t>
            </a:r>
            <a:r>
              <a:rPr lang="en-US" dirty="0">
                <a:solidFill>
                  <a:schemeClr val="tx1"/>
                </a:solidFill>
              </a:rPr>
              <a:t>discrete</a:t>
            </a:r>
            <a:r>
              <a:rPr lang="en-IN" dirty="0">
                <a:solidFill>
                  <a:schemeClr val="tx1"/>
                </a:solidFill>
              </a:rPr>
              <a:t>)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lang="en-IN" dirty="0">
                <a:solidFill>
                  <a:schemeClr val="tx1"/>
                </a:solidFill>
              </a:rPr>
              <a:t>$400k with probability 0.2</a:t>
            </a:r>
          </a:p>
          <a:p>
            <a:r>
              <a:rPr lang="en-IN" dirty="0">
                <a:solidFill>
                  <a:schemeClr val="tx1"/>
                </a:solidFill>
              </a:rPr>
              <a:t>$700k with probability 0.4</a:t>
            </a:r>
          </a:p>
          <a:p>
            <a:r>
              <a:rPr lang="en-IN" dirty="0">
                <a:solidFill>
                  <a:schemeClr val="tx1"/>
                </a:solidFill>
              </a:rPr>
              <a:t>$1M with probability 0.3</a:t>
            </a:r>
          </a:p>
          <a:p>
            <a:r>
              <a:rPr lang="en-IN" dirty="0">
                <a:solidFill>
                  <a:schemeClr val="tx1"/>
                </a:solidFill>
              </a:rPr>
              <a:t>0.2(400)+0.4(700)+0.3(1000)≈660k</a:t>
            </a:r>
          </a:p>
        </p:txBody>
      </p:sp>
    </p:spTree>
    <p:extLst>
      <p:ext uri="{BB962C8B-B14F-4D97-AF65-F5344CB8AC3E}">
        <p14:creationId xmlns:p14="http://schemas.microsoft.com/office/powerpoint/2010/main" val="38724288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53CF3-55B5-3978-C5AD-62C8D88F6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4C0AA97-CE43-779F-E4E5-D94A5A5FD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0066"/>
            <a:ext cx="9144000" cy="910889"/>
          </a:xfrm>
          <a:solidFill>
            <a:srgbClr val="EDEBDF"/>
          </a:solidFill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tx2"/>
                </a:solidFill>
              </a:rPr>
              <a:t>Q &amp; A</a:t>
            </a:r>
            <a:endParaRPr sz="3200" b="1" dirty="0">
              <a:solidFill>
                <a:schemeClr val="tx2"/>
              </a:solidFill>
            </a:endParaRP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D92BAFA4-FAE5-23E4-DEC7-DE4040A408A9}"/>
              </a:ext>
            </a:extLst>
          </p:cNvPr>
          <p:cNvSpPr/>
          <p:nvPr/>
        </p:nvSpPr>
        <p:spPr>
          <a:xfrm>
            <a:off x="0" y="6333498"/>
            <a:ext cx="914400" cy="524502"/>
          </a:xfrm>
          <a:prstGeom prst="homePlat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80F498C-62C9-C5D1-7A37-7B84FE91E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0652" y="1515979"/>
            <a:ext cx="7447548" cy="4525963"/>
          </a:xfrm>
        </p:spPr>
        <p:txBody>
          <a:bodyPr/>
          <a:lstStyle/>
          <a:p>
            <a:r>
              <a:rPr dirty="0"/>
              <a:t>Questions</a:t>
            </a:r>
          </a:p>
          <a:p>
            <a:r>
              <a:rPr dirty="0"/>
              <a:t>Discussion</a:t>
            </a:r>
          </a:p>
        </p:txBody>
      </p:sp>
    </p:spTree>
    <p:extLst>
      <p:ext uri="{BB962C8B-B14F-4D97-AF65-F5344CB8AC3E}">
        <p14:creationId xmlns:p14="http://schemas.microsoft.com/office/powerpoint/2010/main" val="39001617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F9847-009F-A1BF-A807-59B4BFCE7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5DBFF-AB88-74F6-FC56-48F2898BB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2353"/>
            <a:ext cx="8229600" cy="3498112"/>
          </a:xfrm>
        </p:spPr>
        <p:txBody>
          <a:bodyPr>
            <a:normAutofit/>
          </a:bodyPr>
          <a:lstStyle/>
          <a:p>
            <a:pPr marL="0" indent="0" algn="ctr">
              <a:spcBef>
                <a:spcPct val="0"/>
              </a:spcBef>
              <a:buNone/>
              <a:defRPr sz="3600" b="1">
                <a:solidFill>
                  <a:srgbClr val="203764"/>
                </a:solidFill>
              </a:defRPr>
            </a:pPr>
            <a:endParaRPr lang="en-US" sz="6600" b="1" dirty="0">
              <a:solidFill>
                <a:srgbClr val="0070C0"/>
              </a:solidFill>
              <a:latin typeface="+mj-lt"/>
              <a:ea typeface="+mj-ea"/>
              <a:cs typeface="+mj-cs"/>
            </a:endParaRPr>
          </a:p>
          <a:p>
            <a:pPr marL="0" indent="0" algn="ctr">
              <a:spcBef>
                <a:spcPct val="0"/>
              </a:spcBef>
              <a:buNone/>
              <a:defRPr sz="3600" b="1">
                <a:solidFill>
                  <a:srgbClr val="203764"/>
                </a:solidFill>
              </a:defRPr>
            </a:pPr>
            <a:r>
              <a:rPr lang="en-US" sz="66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</a:t>
            </a:r>
            <a:r>
              <a:rPr lang="en-US" sz="6600" b="1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6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YOU</a:t>
            </a:r>
          </a:p>
          <a:p>
            <a:pPr marL="0" indent="0" algn="ctr">
              <a:buNone/>
              <a:defRPr sz="1800">
                <a:solidFill>
                  <a:srgbClr val="404040"/>
                </a:solidFill>
              </a:defRPr>
            </a:pPr>
            <a:endParaRPr sz="6600" dirty="0"/>
          </a:p>
        </p:txBody>
      </p: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AB237315-27CA-65F7-63BC-339E0B7FE0CA}"/>
              </a:ext>
            </a:extLst>
          </p:cNvPr>
          <p:cNvSpPr/>
          <p:nvPr/>
        </p:nvSpPr>
        <p:spPr>
          <a:xfrm>
            <a:off x="0" y="6367047"/>
            <a:ext cx="914400" cy="524502"/>
          </a:xfrm>
          <a:prstGeom prst="homePlat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Half Frame 5">
            <a:extLst>
              <a:ext uri="{FF2B5EF4-FFF2-40B4-BE49-F238E27FC236}">
                <a16:creationId xmlns:a16="http://schemas.microsoft.com/office/drawing/2014/main" id="{98C0FCA3-7537-03A8-2E3D-F6B15A90D8A9}"/>
              </a:ext>
            </a:extLst>
          </p:cNvPr>
          <p:cNvSpPr/>
          <p:nvPr/>
        </p:nvSpPr>
        <p:spPr>
          <a:xfrm rot="19936319">
            <a:off x="1654539" y="1789468"/>
            <a:ext cx="1777208" cy="4149847"/>
          </a:xfrm>
          <a:prstGeom prst="halfFrame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" name="Half Frame 6">
            <a:extLst>
              <a:ext uri="{FF2B5EF4-FFF2-40B4-BE49-F238E27FC236}">
                <a16:creationId xmlns:a16="http://schemas.microsoft.com/office/drawing/2014/main" id="{60477082-F477-D004-316E-BA28471CC7E4}"/>
              </a:ext>
            </a:extLst>
          </p:cNvPr>
          <p:cNvSpPr/>
          <p:nvPr/>
        </p:nvSpPr>
        <p:spPr>
          <a:xfrm rot="9195688">
            <a:off x="5535579" y="564908"/>
            <a:ext cx="1777208" cy="4200245"/>
          </a:xfrm>
          <a:prstGeom prst="halfFrame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1FFABAA-2CEA-B72F-1FB7-EE616D7299E3}"/>
              </a:ext>
            </a:extLst>
          </p:cNvPr>
          <p:cNvCxnSpPr>
            <a:cxnSpLocks/>
          </p:cNvCxnSpPr>
          <p:nvPr/>
        </p:nvCxnSpPr>
        <p:spPr>
          <a:xfrm>
            <a:off x="637953" y="2498651"/>
            <a:ext cx="1905190" cy="3677779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59B52F6-DA2B-E6DE-781F-A2659D0BA3B6}"/>
              </a:ext>
            </a:extLst>
          </p:cNvPr>
          <p:cNvCxnSpPr>
            <a:cxnSpLocks/>
          </p:cNvCxnSpPr>
          <p:nvPr/>
        </p:nvCxnSpPr>
        <p:spPr>
          <a:xfrm>
            <a:off x="6424183" y="279596"/>
            <a:ext cx="1928647" cy="3771409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6208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1080</TotalTime>
  <Words>1433</Words>
  <Application>Microsoft Office PowerPoint</Application>
  <PresentationFormat>On-screen Show (4:3)</PresentationFormat>
  <Paragraphs>185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 Math</vt:lpstr>
      <vt:lpstr>quote-cjk-patch</vt:lpstr>
      <vt:lpstr>Office Theme</vt:lpstr>
      <vt:lpstr>Applied Calculus in Machine Learning</vt:lpstr>
      <vt:lpstr>Derivative step by step Derivative = how fast y changes when x changes a little</vt:lpstr>
      <vt:lpstr>Derivative Rules:fundamental and most used in ML</vt:lpstr>
      <vt:lpstr>Derivative Rules continued</vt:lpstr>
      <vt:lpstr>Visualizing Machine Learning Through Derivatives How gradient descent learns: California housing price prediction</vt:lpstr>
      <vt:lpstr>Visualizing Machine Learning Through Derivatives How gradient descent learns: California housing price prediction</vt:lpstr>
      <vt:lpstr>From Change to Expectation: Integral Calculus What Should We Expect for a House Price?</vt:lpstr>
      <vt:lpstr>Q &amp; A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satyajit joshi</cp:lastModifiedBy>
  <cp:revision>91</cp:revision>
  <dcterms:created xsi:type="dcterms:W3CDTF">2013-01-27T09:14:16Z</dcterms:created>
  <dcterms:modified xsi:type="dcterms:W3CDTF">2026-01-09T12:28:12Z</dcterms:modified>
  <cp:category/>
</cp:coreProperties>
</file>