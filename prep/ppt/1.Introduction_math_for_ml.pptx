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3" r:id="rId2"/>
    <p:sldId id="261" r:id="rId3"/>
    <p:sldId id="294" r:id="rId4"/>
    <p:sldId id="295" r:id="rId5"/>
    <p:sldId id="296" r:id="rId6"/>
    <p:sldId id="297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1DE"/>
    <a:srgbClr val="F2DCDB"/>
    <a:srgbClr val="E7C49C"/>
    <a:srgbClr val="000000"/>
    <a:srgbClr val="BAE18F"/>
    <a:srgbClr val="F9F9F6"/>
    <a:srgbClr val="EDEBDF"/>
    <a:srgbClr val="F3F3F3"/>
    <a:srgbClr val="E1CCF0"/>
    <a:srgbClr val="EA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314" autoAdjust="0"/>
  </p:normalViewPr>
  <p:slideViewPr>
    <p:cSldViewPr snapToGrid="0" snapToObjects="1">
      <p:cViewPr varScale="1">
        <p:scale>
          <a:sx n="68" d="100"/>
          <a:sy n="68" d="100"/>
        </p:scale>
        <p:origin x="284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9A040-76D0-473E-9E74-221C88BE9F17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7EBED-4FCC-49BE-BDE5-2E953154B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35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</a:t>
            </a:r>
          </a:p>
          <a:p>
            <a:r>
              <a:rPr lang="en-US" dirty="0"/>
              <a:t>Today, we are starting a journey into mathematics for machine learning.</a:t>
            </a:r>
          </a:p>
          <a:p>
            <a:endParaRPr lang="en-US" dirty="0"/>
          </a:p>
          <a:p>
            <a:r>
              <a:rPr lang="en-US" dirty="0"/>
              <a:t>When we  hear machine learning, we often think it is all about coding and algorithms.</a:t>
            </a:r>
          </a:p>
          <a:p>
            <a:endParaRPr lang="en-US" dirty="0"/>
          </a:p>
          <a:p>
            <a:r>
              <a:rPr lang="en-US" dirty="0"/>
              <a:t>But The real intelligence behind machine learning comes from mathematics</a:t>
            </a:r>
          </a:p>
          <a:p>
            <a:endParaRPr lang="en-US" dirty="0"/>
          </a:p>
          <a:p>
            <a:r>
              <a:rPr lang="en-US" dirty="0"/>
              <a:t>In these, I will not use complex formulas. Instead,</a:t>
            </a:r>
          </a:p>
          <a:p>
            <a:r>
              <a:rPr lang="en-US" dirty="0"/>
              <a:t>More focus on understanding </a:t>
            </a:r>
          </a:p>
          <a:p>
            <a:r>
              <a:rPr lang="en-US" dirty="0"/>
              <a:t>why mathematics matters,</a:t>
            </a:r>
          </a:p>
          <a:p>
            <a:r>
              <a:rPr lang="en-US" dirty="0"/>
              <a:t>and how it helps machines learn.</a:t>
            </a:r>
          </a:p>
          <a:p>
            <a:br>
              <a:rPr lang="en-US" dirty="0"/>
            </a:br>
            <a:r>
              <a:rPr lang="en-US" dirty="0"/>
              <a:t>Machine learning is built on four mathematical pillars.</a:t>
            </a:r>
          </a:p>
          <a:p>
            <a:endParaRPr lang="en-US" dirty="0"/>
          </a:p>
          <a:p>
            <a:r>
              <a:rPr lang="en-US" dirty="0"/>
              <a:t>Linear Algebra.</a:t>
            </a:r>
          </a:p>
          <a:p>
            <a:endParaRPr lang="en-US" dirty="0"/>
          </a:p>
          <a:p>
            <a:r>
              <a:rPr lang="en-US" dirty="0"/>
              <a:t>Calculus.</a:t>
            </a:r>
          </a:p>
          <a:p>
            <a:endParaRPr lang="en-US" dirty="0"/>
          </a:p>
          <a:p>
            <a:r>
              <a:rPr lang="en-US" dirty="0"/>
              <a:t>Probability.</a:t>
            </a:r>
          </a:p>
          <a:p>
            <a:endParaRPr lang="en-US" dirty="0"/>
          </a:p>
          <a:p>
            <a:r>
              <a:rPr lang="en-US" dirty="0"/>
              <a:t>And Statistics.</a:t>
            </a:r>
          </a:p>
          <a:p>
            <a:endParaRPr lang="en-US" dirty="0"/>
          </a:p>
          <a:p>
            <a:r>
              <a:rPr lang="en-US" dirty="0"/>
              <a:t>Each one plays a different role. Think of them as tools. Different tools for different problems.</a:t>
            </a:r>
          </a:p>
          <a:p>
            <a:endParaRPr lang="en-US" dirty="0"/>
          </a:p>
          <a:p>
            <a:r>
              <a:rPr lang="en-US" dirty="0"/>
              <a:t>In the next few minutes, I will give you high overview of each one.</a:t>
            </a:r>
          </a:p>
          <a:p>
            <a:endParaRPr lang="en-US" dirty="0"/>
          </a:p>
          <a:p>
            <a:r>
              <a:rPr lang="en-US" dirty="0"/>
              <a:t>Prerequisites : none. We will be starting from basics so prior knowledge of </a:t>
            </a:r>
            <a:r>
              <a:rPr lang="en-US" dirty="0" err="1"/>
              <a:t>maths</a:t>
            </a:r>
            <a:r>
              <a:rPr lang="en-US" dirty="0"/>
              <a:t> is not required.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learning is series of 4  sessions around 30-40 mins each.</a:t>
            </a:r>
          </a:p>
          <a:p>
            <a:endParaRPr lang="en-US" dirty="0"/>
          </a:p>
          <a:p>
            <a:r>
              <a:rPr lang="en-US" dirty="0"/>
              <a:t>Today we will be covering introduction and Liner algebra</a:t>
            </a:r>
          </a:p>
          <a:p>
            <a:r>
              <a:rPr lang="en-US" dirty="0"/>
              <a:t>And then separate session </a:t>
            </a:r>
            <a:r>
              <a:rPr lang="en-US" b="0" dirty="0"/>
              <a:t> Calculus, Probability, and Statistics</a:t>
            </a:r>
          </a:p>
          <a:p>
            <a:endParaRPr lang="en-US" dirty="0"/>
          </a:p>
          <a:p>
            <a:br>
              <a:rPr lang="en-US" dirty="0"/>
            </a:b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https://github.com/sj8511/mathsforml is my </a:t>
            </a:r>
            <a:r>
              <a:rPr lang="en-IN" dirty="0" err="1"/>
              <a:t>github</a:t>
            </a:r>
            <a:r>
              <a:rPr lang="en-IN" dirty="0"/>
              <a:t> repo which has some </a:t>
            </a:r>
            <a:r>
              <a:rPr lang="en-IN" dirty="0" err="1"/>
              <a:t>jupyter</a:t>
            </a:r>
            <a:r>
              <a:rPr lang="en-IN" dirty="0"/>
              <a:t> notebook and python code examples</a:t>
            </a:r>
          </a:p>
          <a:p>
            <a:endParaRPr lang="en-US" b="0" dirty="0"/>
          </a:p>
          <a:p>
            <a:r>
              <a:rPr lang="en-US" dirty="0"/>
              <a:t>So Let’s begin our journey..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599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begin</a:t>
            </a:r>
          </a:p>
          <a:p>
            <a:r>
              <a:rPr lang="en-US" dirty="0"/>
              <a:t>with Linear Algebra.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Linear algebra is all about scalers, Vectors, Matrices .. their transformation and combination.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machine learning,</a:t>
            </a:r>
          </a:p>
          <a:p>
            <a:r>
              <a:rPr lang="en-US" sz="1200" dirty="0">
                <a:latin typeface="Aptos Narrow" panose="020B0004020202020204" pitchFamily="34" charset="0"/>
                <a:cs typeface="Arial" panose="020B0604020202020204" pitchFamily="34" charset="0"/>
              </a:rPr>
              <a:t>Every data point like Median income, House Age and avg rooms becomes a </a:t>
            </a:r>
            <a:r>
              <a:rPr lang="en-US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vector</a:t>
            </a:r>
            <a:r>
              <a:rPr lang="en-US" sz="1200" dirty="0">
                <a:latin typeface="Aptos Narrow" panose="020B0004020202020204" pitchFamily="34" charset="0"/>
                <a:cs typeface="Arial" panose="020B0604020202020204" pitchFamily="34" charset="0"/>
              </a:rPr>
              <a:t>, and an entire dataset becomes a </a:t>
            </a:r>
            <a:r>
              <a:rPr lang="en-US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matrix</a:t>
            </a:r>
            <a:endParaRPr lang="en-US" dirty="0"/>
          </a:p>
          <a:p>
            <a:endParaRPr lang="en-US" dirty="0"/>
          </a:p>
          <a:p>
            <a:r>
              <a:rPr lang="en-US" dirty="0"/>
              <a:t>First image shows building blocks like Vectors, matrix and their operation</a:t>
            </a:r>
          </a:p>
          <a:p>
            <a:r>
              <a:rPr lang="en-US" dirty="0"/>
              <a:t>And second image shows how we can use these building blocks to predict the house price.</a:t>
            </a:r>
          </a:p>
          <a:p>
            <a:endParaRPr lang="en-US" dirty="0"/>
          </a:p>
          <a:p>
            <a:r>
              <a:rPr lang="en-US" dirty="0"/>
              <a:t>We will learn all these concepts today.</a:t>
            </a:r>
          </a:p>
          <a:p>
            <a:endParaRPr lang="en-US" dirty="0"/>
          </a:p>
          <a:p>
            <a:r>
              <a:rPr lang="en-US" dirty="0"/>
              <a:t>So, linear algebra helps machines  represent data and work with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30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 us talk about Calculus.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Imagine a robot learning to ride a bicycle.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Differential calculus tells the robot how fast it is tipping,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which way to lean </a:t>
            </a:r>
            <a:r>
              <a:rPr lang="en-US" sz="1200" dirty="0"/>
              <a:t>to stay balanced , what  to do to take left turn or right turn ..its all about learning.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/>
              <a:t>Integral calculus</a:t>
            </a:r>
            <a:r>
              <a:rPr lang="en-US" sz="1200" dirty="0"/>
              <a:t> helps it remember how much it has leaned over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the same way, calculus helps  machine learning models  learn from mistakes, and improve step by step.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We will learn both </a:t>
            </a:r>
            <a:r>
              <a:rPr lang="en-IN" b="1" dirty="0"/>
              <a:t>Differential calculus </a:t>
            </a:r>
            <a:r>
              <a:rPr lang="en-IN" dirty="0"/>
              <a:t>and </a:t>
            </a:r>
            <a:r>
              <a:rPr lang="en-US" sz="1200" b="1" dirty="0"/>
              <a:t>Integral calculus in </a:t>
            </a:r>
            <a:r>
              <a:rPr lang="en-US" sz="1200" b="0" dirty="0"/>
              <a:t>next session</a:t>
            </a:r>
            <a:endParaRPr lang="en-I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Calculus is important session don’t miss it.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    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20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</a:t>
            </a:r>
          </a:p>
          <a:p>
            <a:r>
              <a:rPr lang="en-US" dirty="0"/>
              <a:t>we have Probability.</a:t>
            </a:r>
          </a:p>
          <a:p>
            <a:r>
              <a:rPr lang="en-US" dirty="0"/>
              <a:t>Real-world data is uncertain.</a:t>
            </a:r>
          </a:p>
          <a:p>
            <a:r>
              <a:rPr lang="en-US" dirty="0"/>
              <a:t>Probability helps models handle uncertainty.</a:t>
            </a:r>
          </a:p>
          <a:p>
            <a:endParaRPr lang="en-US" dirty="0"/>
          </a:p>
          <a:p>
            <a:r>
              <a:rPr lang="en-US" dirty="0"/>
              <a:t>If you look at the attached image which is related to housing price prediction .. it says 95% chance that this price of house </a:t>
            </a:r>
            <a:r>
              <a:rPr lang="en-US" dirty="0" err="1"/>
              <a:t>approx</a:t>
            </a:r>
            <a:r>
              <a:rPr lang="en-US" dirty="0"/>
              <a:t> $500K. This is 95% is the probability.</a:t>
            </a:r>
          </a:p>
          <a:p>
            <a:r>
              <a:rPr lang="en-US" dirty="0"/>
              <a:t>In this section we will be learning </a:t>
            </a:r>
          </a:p>
          <a:p>
            <a:pPr marL="857250" lvl="1" indent="-457200"/>
            <a:r>
              <a:rPr lang="en-US" dirty="0"/>
              <a:t>Sample Space and Events</a:t>
            </a:r>
          </a:p>
          <a:p>
            <a:pPr marL="857250" lvl="1" indent="-457200"/>
            <a:r>
              <a:rPr lang="en-US" dirty="0"/>
              <a:t>Joint Probability</a:t>
            </a:r>
          </a:p>
          <a:p>
            <a:pPr marL="857250" lvl="1" indent="-457200"/>
            <a:r>
              <a:rPr lang="en-US" dirty="0"/>
              <a:t>Conditional Probability</a:t>
            </a:r>
          </a:p>
          <a:p>
            <a:pPr marL="857250" lvl="1" indent="-457200"/>
            <a:r>
              <a:rPr lang="en-US" dirty="0"/>
              <a:t>Bayes Theorem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360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</a:t>
            </a:r>
          </a:p>
          <a:p>
            <a:r>
              <a:rPr lang="en-US" dirty="0"/>
              <a:t>we have Statistics.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Statistics we will be learning descriptive statistics and  Inferential statistics </a:t>
            </a:r>
          </a:p>
          <a:p>
            <a:r>
              <a:rPr lang="en-US" dirty="0"/>
              <a:t>descriptive statistics is to understand the data</a:t>
            </a:r>
          </a:p>
          <a:p>
            <a:r>
              <a:rPr lang="en-US" dirty="0"/>
              <a:t>Inferential statistics is to predict prices for unseen data</a:t>
            </a:r>
          </a:p>
          <a:p>
            <a:r>
              <a:rPr lang="en-US" dirty="0"/>
              <a:t>As you see in this image </a:t>
            </a:r>
            <a:br>
              <a:rPr lang="en-US" dirty="0"/>
            </a:br>
            <a:r>
              <a:rPr lang="en-US" dirty="0"/>
              <a:t>Concepts such as mean, variance, and standard deviation summarize patterns in a dataset.</a:t>
            </a:r>
            <a:br>
              <a:rPr lang="en-US" dirty="0"/>
            </a:br>
            <a:r>
              <a:rPr lang="en-US" dirty="0"/>
              <a:t>Statistical tests like hypothesis and A/B testing are used  check assumptions, and validate the  model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554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8E10-9657-7F0A-7165-013FD9E0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0C33B-FF47-48E1-EB9B-1A759C9E9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ED4D6-31DB-C440-8536-4F864F385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0E76C-F12F-E7E2-D8C4-F857AFF2A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697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032916-040C-B2C6-7DD8-435EB56C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2"/>
                </a:solidFill>
              </a:rPr>
              <a:t>Mathematics </a:t>
            </a:r>
            <a:r>
              <a:rPr lang="en-US" sz="3200" b="1" dirty="0">
                <a:solidFill>
                  <a:schemeClr val="tx2"/>
                </a:solidFill>
              </a:rPr>
              <a:t>for</a:t>
            </a:r>
            <a:r>
              <a:rPr sz="3200" b="1" dirty="0">
                <a:solidFill>
                  <a:schemeClr val="tx2"/>
                </a:solidFill>
              </a:rPr>
              <a:t> Machine Learning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EC8089-6BDA-0F4D-8BEF-9A4C8E1EF926}"/>
              </a:ext>
            </a:extLst>
          </p:cNvPr>
          <p:cNvSpPr/>
          <p:nvPr/>
        </p:nvSpPr>
        <p:spPr>
          <a:xfrm>
            <a:off x="715992" y="1095555"/>
            <a:ext cx="3668460" cy="5046453"/>
          </a:xfrm>
          <a:prstGeom prst="roundRect">
            <a:avLst>
              <a:gd name="adj" fmla="val 3271"/>
            </a:avLst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46A732-7814-4624-3927-8DF4C6869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72" y="1121434"/>
            <a:ext cx="4185315" cy="5020574"/>
          </a:xfrm>
          <a:prstGeom prst="rect">
            <a:avLst/>
          </a:prstGeom>
          <a:gradFill>
            <a:gsLst>
              <a:gs pos="99000">
                <a:schemeClr val="bg1">
                  <a:lumMod val="95000"/>
                </a:schemeClr>
              </a:gs>
              <a:gs pos="98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</a:gsLst>
            <a:lin ang="13500000" scaled="1"/>
          </a:gra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schemeClr val="tx2">
                <a:lumMod val="10000"/>
                <a:lumOff val="90000"/>
                <a:alpha val="40000"/>
              </a:schemeClr>
            </a:outerShdw>
          </a:effectLst>
        </p:spPr>
      </p:pic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F407F7B5-DF49-A7B0-581C-ED4BBAD1A9B6}"/>
              </a:ext>
            </a:extLst>
          </p:cNvPr>
          <p:cNvSpPr/>
          <p:nvPr/>
        </p:nvSpPr>
        <p:spPr>
          <a:xfrm>
            <a:off x="1098024" y="1733909"/>
            <a:ext cx="2852086" cy="596590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Linear Algebra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EC3B85C2-7952-2CAA-DB28-83F39430DC51}"/>
              </a:ext>
            </a:extLst>
          </p:cNvPr>
          <p:cNvSpPr/>
          <p:nvPr/>
        </p:nvSpPr>
        <p:spPr>
          <a:xfrm>
            <a:off x="1113844" y="2741092"/>
            <a:ext cx="2852086" cy="59659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Calculus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80C99AE6-D078-86D2-A2AA-31CA535ACC5B}"/>
              </a:ext>
            </a:extLst>
          </p:cNvPr>
          <p:cNvSpPr/>
          <p:nvPr/>
        </p:nvSpPr>
        <p:spPr>
          <a:xfrm>
            <a:off x="1098024" y="3874568"/>
            <a:ext cx="2852086" cy="596590"/>
          </a:xfrm>
          <a:prstGeom prst="round2DiagRect">
            <a:avLst/>
          </a:prstGeom>
          <a:solidFill>
            <a:srgbClr val="EBF1D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Probability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3F81B19E-316D-938E-2105-9B1590F9D0FB}"/>
              </a:ext>
            </a:extLst>
          </p:cNvPr>
          <p:cNvSpPr/>
          <p:nvPr/>
        </p:nvSpPr>
        <p:spPr>
          <a:xfrm>
            <a:off x="1098024" y="4965037"/>
            <a:ext cx="2852086" cy="596590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Statistics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0945BBCD-9D29-83A2-B8BC-751C681C3152}"/>
              </a:ext>
            </a:extLst>
          </p:cNvPr>
          <p:cNvSpPr/>
          <p:nvPr/>
        </p:nvSpPr>
        <p:spPr>
          <a:xfrm rot="16200000">
            <a:off x="-194095" y="5266427"/>
            <a:ext cx="1785670" cy="1397478"/>
          </a:xfrm>
          <a:prstGeom prst="halfFrame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980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356A53-E461-95EF-00A6-32949FF3B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18" y="3429000"/>
            <a:ext cx="3929843" cy="319455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98B4D5-7777-5B5D-9D7D-0E8D92F9A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671642"/>
              </p:ext>
            </p:extLst>
          </p:nvPr>
        </p:nvGraphicFramePr>
        <p:xfrm>
          <a:off x="155648" y="1121234"/>
          <a:ext cx="3986785" cy="2168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234">
                  <a:extLst>
                    <a:ext uri="{9D8B030D-6E8A-4147-A177-3AD203B41FA5}">
                      <a16:colId xmlns:a16="http://schemas.microsoft.com/office/drawing/2014/main" val="2502081807"/>
                    </a:ext>
                  </a:extLst>
                </a:gridCol>
                <a:gridCol w="894234">
                  <a:extLst>
                    <a:ext uri="{9D8B030D-6E8A-4147-A177-3AD203B41FA5}">
                      <a16:colId xmlns:a16="http://schemas.microsoft.com/office/drawing/2014/main" val="2904923921"/>
                    </a:ext>
                  </a:extLst>
                </a:gridCol>
                <a:gridCol w="1134501">
                  <a:extLst>
                    <a:ext uri="{9D8B030D-6E8A-4147-A177-3AD203B41FA5}">
                      <a16:colId xmlns:a16="http://schemas.microsoft.com/office/drawing/2014/main" val="1563792082"/>
                    </a:ext>
                  </a:extLst>
                </a:gridCol>
                <a:gridCol w="1063816">
                  <a:extLst>
                    <a:ext uri="{9D8B030D-6E8A-4147-A177-3AD203B41FA5}">
                      <a16:colId xmlns:a16="http://schemas.microsoft.com/office/drawing/2014/main" val="4234600426"/>
                    </a:ext>
                  </a:extLst>
                </a:gridCol>
              </a:tblGrid>
              <a:tr h="9273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MedInc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House 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Ave</a:t>
                      </a:r>
                    </a:p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Rooms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MedHouse</a:t>
                      </a:r>
                      <a:endParaRPr lang="en-IN" sz="1800" u="none" strike="noStrike" dirty="0">
                        <a:effectLst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Val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117964"/>
                  </a:ext>
                </a:extLst>
              </a:tr>
              <a:tr h="62059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8.3252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41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6.9841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4.526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791"/>
                  </a:ext>
                </a:extLst>
              </a:tr>
              <a:tr h="62059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8.3014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6.2381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3.585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92121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94B4680-651E-7383-2DAC-ECB72A38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Linear Algebra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E4D25A-5623-694E-98B3-FC3A10DCBF7F}"/>
              </a:ext>
            </a:extLst>
          </p:cNvPr>
          <p:cNvSpPr/>
          <p:nvPr/>
        </p:nvSpPr>
        <p:spPr>
          <a:xfrm>
            <a:off x="4572000" y="1182590"/>
            <a:ext cx="4503860" cy="5617328"/>
          </a:xfrm>
          <a:prstGeom prst="roundRect">
            <a:avLst>
              <a:gd name="adj" fmla="val 23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Every data point becomes a </a:t>
            </a: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vector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, and an entire dataset becomes a </a:t>
            </a: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matrix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dot products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 measure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matrix multiplication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 combines information across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linear combinations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 help models build new features</a:t>
            </a:r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70C62-A46B-DC64-556B-3F5DC6BB4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515" y="3243592"/>
            <a:ext cx="3870320" cy="338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8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8E984F-3DBD-3B9C-4FB9-BEB518CF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Calculus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FD7FE8-EE92-56F9-5147-6C591FE74545}"/>
              </a:ext>
            </a:extLst>
          </p:cNvPr>
          <p:cNvSpPr/>
          <p:nvPr/>
        </p:nvSpPr>
        <p:spPr>
          <a:xfrm>
            <a:off x="434470" y="1240403"/>
            <a:ext cx="3818354" cy="4772208"/>
          </a:xfrm>
          <a:prstGeom prst="roundRect">
            <a:avLst>
              <a:gd name="adj" fmla="val 533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Imagine a robot learning to ride a bicycle.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Differential calculus</a:t>
            </a:r>
            <a:r>
              <a:rPr lang="en-US" sz="2400" dirty="0">
                <a:solidFill>
                  <a:schemeClr val="tx1"/>
                </a:solidFill>
              </a:rPr>
              <a:t> tells the robot how fast it’s tipping and which way to lean to stay balanced.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Integral calculus</a:t>
            </a:r>
            <a:r>
              <a:rPr lang="en-US" sz="2400" dirty="0">
                <a:solidFill>
                  <a:schemeClr val="tx1"/>
                </a:solidFill>
              </a:rPr>
              <a:t> helps it remember how much it has leaned over time so it can ride smoothly.</a:t>
            </a:r>
            <a:br>
              <a:rPr lang="en-US" dirty="0"/>
            </a:br>
            <a:endParaRPr lang="en-US" dirty="0"/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A1943-259E-BBEC-CEAE-0ABD53665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74" y="1240403"/>
            <a:ext cx="4579498" cy="4892978"/>
          </a:xfrm>
          <a:prstGeom prst="rect">
            <a:avLst/>
          </a:prstGeom>
        </p:spPr>
      </p:pic>
      <p:sp>
        <p:nvSpPr>
          <p:cNvPr id="3" name="Arrow: Pentagon 2">
            <a:extLst>
              <a:ext uri="{FF2B5EF4-FFF2-40B4-BE49-F238E27FC236}">
                <a16:creationId xmlns:a16="http://schemas.microsoft.com/office/drawing/2014/main" id="{C52596CC-1F46-0A49-0323-02F83D253550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26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DA07B9-8B0D-DBA8-4E1F-A159A7B24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Probability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7D026E-125E-443F-2773-27489D637D55}"/>
              </a:ext>
            </a:extLst>
          </p:cNvPr>
          <p:cNvSpPr/>
          <p:nvPr/>
        </p:nvSpPr>
        <p:spPr>
          <a:xfrm>
            <a:off x="328103" y="1199072"/>
            <a:ext cx="3648674" cy="4865298"/>
          </a:xfrm>
          <a:prstGeom prst="roundRect">
            <a:avLst>
              <a:gd name="adj" fmla="val 409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Models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sample space</a:t>
            </a:r>
            <a:r>
              <a:rPr lang="en-US" sz="2400" dirty="0">
                <a:solidFill>
                  <a:schemeClr val="tx1"/>
                </a:solidFill>
              </a:rPr>
              <a:t> represents all the possibilities, while </a:t>
            </a:r>
            <a:r>
              <a:rPr lang="en-US" sz="2400" b="1" dirty="0">
                <a:solidFill>
                  <a:schemeClr val="tx1"/>
                </a:solidFill>
              </a:rPr>
              <a:t>events</a:t>
            </a:r>
            <a:r>
              <a:rPr lang="en-US" sz="2400" dirty="0">
                <a:solidFill>
                  <a:schemeClr val="tx1"/>
                </a:solidFill>
              </a:rPr>
              <a:t> are the specific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Conditional probability</a:t>
            </a:r>
            <a:r>
              <a:rPr lang="en-US" sz="2400" dirty="0">
                <a:solidFill>
                  <a:schemeClr val="tx1"/>
                </a:solidFill>
              </a:rPr>
              <a:t> helps models make better guesses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Bayes’ Theorem</a:t>
            </a:r>
            <a:r>
              <a:rPr lang="en-US" sz="2400" dirty="0">
                <a:solidFill>
                  <a:schemeClr val="tx1"/>
                </a:solidFill>
              </a:rPr>
              <a:t> lets models continually update their predictions</a:t>
            </a: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CE749-5BEE-8AF5-F446-C50FDF3E8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99072"/>
            <a:ext cx="4787660" cy="4865298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F2A9D150-1EBE-7C00-C33A-7A19453F8C62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BAE1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44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B34C07-B8A0-97E1-F473-298BC42D192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910889"/>
          </a:xfrm>
          <a:prstGeom prst="rect">
            <a:avLst/>
          </a:prstGeom>
          <a:solidFill>
            <a:srgbClr val="EDEBD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2"/>
                </a:solidFill>
              </a:rPr>
              <a:t>Statistics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B9892E-4F1F-7A2F-65C8-37F31C481E25}"/>
              </a:ext>
            </a:extLst>
          </p:cNvPr>
          <p:cNvSpPr/>
          <p:nvPr/>
        </p:nvSpPr>
        <p:spPr>
          <a:xfrm>
            <a:off x="580446" y="1345720"/>
            <a:ext cx="3301442" cy="4485737"/>
          </a:xfrm>
          <a:prstGeom prst="roundRect">
            <a:avLst>
              <a:gd name="adj" fmla="val 530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understanding &amp; summarization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Mean, variance, standard deviation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Sampling &amp; hypothesis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8FC82-0AC5-C6BE-49D9-8822B1F84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36" y="1345720"/>
            <a:ext cx="4910490" cy="4485737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3E663452-E20B-758F-B733-94ABD712A92A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71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9847-009F-A1BF-A807-59B4BFCE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5DBFF-AB88-74F6-FC56-48F2898BB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2353"/>
            <a:ext cx="8229600" cy="3498112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endParaRPr lang="en-US" sz="66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r>
              <a:rPr lang="en-US" sz="6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THANK YOU</a:t>
            </a:r>
          </a:p>
          <a:p>
            <a:pPr marL="0" indent="0" algn="ctr">
              <a:buNone/>
              <a:defRPr sz="1800">
                <a:solidFill>
                  <a:srgbClr val="404040"/>
                </a:solidFill>
              </a:defRPr>
            </a:pPr>
            <a:endParaRPr sz="6600" dirty="0"/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98C0FCA3-7537-03A8-2E3D-F6B15A90D8A9}"/>
              </a:ext>
            </a:extLst>
          </p:cNvPr>
          <p:cNvSpPr/>
          <p:nvPr/>
        </p:nvSpPr>
        <p:spPr>
          <a:xfrm rot="19936319">
            <a:off x="1654539" y="1789468"/>
            <a:ext cx="1777208" cy="4149847"/>
          </a:xfrm>
          <a:prstGeom prst="halfFrame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60477082-F477-D004-316E-BA28471CC7E4}"/>
              </a:ext>
            </a:extLst>
          </p:cNvPr>
          <p:cNvSpPr/>
          <p:nvPr/>
        </p:nvSpPr>
        <p:spPr>
          <a:xfrm rot="9195688">
            <a:off x="5535579" y="564908"/>
            <a:ext cx="1777208" cy="4200245"/>
          </a:xfrm>
          <a:prstGeom prst="halfFrame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FABAA-2CEA-B72F-1FB7-EE616D7299E3}"/>
              </a:ext>
            </a:extLst>
          </p:cNvPr>
          <p:cNvCxnSpPr>
            <a:cxnSpLocks/>
          </p:cNvCxnSpPr>
          <p:nvPr/>
        </p:nvCxnSpPr>
        <p:spPr>
          <a:xfrm>
            <a:off x="637953" y="2446895"/>
            <a:ext cx="1905190" cy="367777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9B52F6-DA2B-E6DE-781F-A2659D0BA3B6}"/>
              </a:ext>
            </a:extLst>
          </p:cNvPr>
          <p:cNvCxnSpPr>
            <a:cxnSpLocks/>
          </p:cNvCxnSpPr>
          <p:nvPr/>
        </p:nvCxnSpPr>
        <p:spPr>
          <a:xfrm>
            <a:off x="6389679" y="389675"/>
            <a:ext cx="1889266" cy="366133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122B370-7583-4B4C-61B8-25939E327470}"/>
              </a:ext>
            </a:extLst>
          </p:cNvPr>
          <p:cNvSpPr/>
          <p:nvPr/>
        </p:nvSpPr>
        <p:spPr>
          <a:xfrm>
            <a:off x="0" y="6340415"/>
            <a:ext cx="9144000" cy="5175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570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2156</TotalTime>
  <Words>720</Words>
  <Application>Microsoft Office PowerPoint</Application>
  <PresentationFormat>On-screen Show (4:3)</PresentationFormat>
  <Paragraphs>130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Narrow</vt:lpstr>
      <vt:lpstr>Arial</vt:lpstr>
      <vt:lpstr>Calibri</vt:lpstr>
      <vt:lpstr>Office Theme</vt:lpstr>
      <vt:lpstr>Mathematics for Machine Learning</vt:lpstr>
      <vt:lpstr>Linear Algebra</vt:lpstr>
      <vt:lpstr>Calculus</vt:lpstr>
      <vt:lpstr>Probability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satyajit joshi</cp:lastModifiedBy>
  <cp:revision>143</cp:revision>
  <dcterms:created xsi:type="dcterms:W3CDTF">2013-01-27T09:14:16Z</dcterms:created>
  <dcterms:modified xsi:type="dcterms:W3CDTF">2026-01-15T14:40:01Z</dcterms:modified>
  <cp:category/>
</cp:coreProperties>
</file>