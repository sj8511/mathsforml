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28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358" autoAdjust="0"/>
  </p:normalViewPr>
  <p:slideViewPr>
    <p:cSldViewPr snapToGrid="0" snapToObjects="1">
      <p:cViewPr varScale="1">
        <p:scale>
          <a:sx n="81" d="100"/>
          <a:sy n="81" d="100"/>
        </p:scale>
        <p:origin x="248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449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mos.com/calculator/nfle2zawsk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desmos.com/3d/aetsx8jcea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 going to explore how linear algebra serves as the mathematical backbone of machine learning.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 start with fundamental concepts and build up to a practical example of predicting housing prices in California.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953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Let’s begin with the basic building blocks.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scalar</a:t>
            </a:r>
            <a:r>
              <a:rPr lang="en-US" dirty="0"/>
              <a:t> is simply a single number — just a magnitude, nothing more.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vector</a:t>
            </a:r>
            <a:r>
              <a:rPr lang="en-US" dirty="0"/>
              <a:t> is an ordered list of numbers; you can think of it as an arrow with both magnitude and direction.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matrix</a:t>
            </a:r>
            <a:r>
              <a:rPr lang="en-US" dirty="0"/>
              <a:t> is a rectangular grid of numbers arranged in rows and columns.</a:t>
            </a:r>
            <a:br>
              <a:rPr lang="en-US" dirty="0"/>
            </a:br>
            <a:r>
              <a:rPr lang="en-US" dirty="0"/>
              <a:t>While scalars are zero-dimensional, vectors are one-dimensional, and matrices are two-dimensional.</a:t>
            </a:r>
            <a:br>
              <a:rPr lang="en-US" dirty="0"/>
            </a:br>
            <a:r>
              <a:rPr lang="en-US" dirty="0"/>
              <a:t>Finally, we have </a:t>
            </a:r>
            <a:r>
              <a:rPr lang="en-US" b="1" dirty="0"/>
              <a:t>tensors</a:t>
            </a:r>
            <a:r>
              <a:rPr lang="en-US" dirty="0"/>
              <a:t>, which generalize all of these into higher dimensions.</a:t>
            </a:r>
            <a:br>
              <a:rPr lang="en-US" dirty="0"/>
            </a:br>
            <a:r>
              <a:rPr lang="en-US" dirty="0"/>
              <a:t>These objects are the vocabulary of machine learning, and models express data, weights, and transformations using them.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3208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Before we do operations, it’s important to understand the stage they exist on: </a:t>
            </a:r>
            <a:r>
              <a:rPr lang="en-US" b="0" dirty="0"/>
              <a:t>coordinate systems.</a:t>
            </a:r>
            <a:br>
              <a:rPr lang="en-US" dirty="0"/>
            </a:br>
            <a:r>
              <a:rPr lang="en-US" dirty="0"/>
              <a:t>In two dimensions, we have an x-axis and a y-axis intersecting at the origin.</a:t>
            </a:r>
            <a:br>
              <a:rPr lang="en-US" dirty="0"/>
            </a:br>
            <a:r>
              <a:rPr lang="en-US" dirty="0"/>
              <a:t>In three dimensions, we introduce a z-axis, which is perpendicular to both x and y.</a:t>
            </a:r>
            <a:br>
              <a:rPr lang="en-US" dirty="0"/>
            </a:br>
            <a:r>
              <a:rPr lang="en-US" dirty="0"/>
              <a:t>These coordinate systems allow us to </a:t>
            </a:r>
            <a:r>
              <a:rPr lang="en-US" i="1" dirty="0"/>
              <a:t>locate points</a:t>
            </a:r>
            <a:r>
              <a:rPr lang="en-US" dirty="0"/>
              <a:t>, </a:t>
            </a:r>
            <a:r>
              <a:rPr lang="en-US" i="1" dirty="0"/>
              <a:t>describe vectors</a:t>
            </a:r>
            <a:r>
              <a:rPr lang="en-US" dirty="0"/>
              <a:t>, and visualize geometric relationships.</a:t>
            </a:r>
            <a:br>
              <a:rPr lang="en-US" dirty="0"/>
            </a:br>
            <a:r>
              <a:rPr lang="en-US" dirty="0"/>
              <a:t>Machine learning models—especially those involving images, 3-D sensing, or geometry—rely heavily on structured coordinate systems.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https://www.desmos.com/calculator/nfle2zawsk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3D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https://www.desmos.com/3d/aetsx8jcea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346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Now let’s talk about vector operations.</a:t>
            </a:r>
            <a:br>
              <a:rPr lang="en-US" dirty="0"/>
            </a:br>
            <a:r>
              <a:rPr lang="en-US" dirty="0"/>
              <a:t>Vector addition is intuitive:</a:t>
            </a:r>
            <a:br>
              <a:rPr lang="en-US" dirty="0"/>
            </a:br>
            <a:r>
              <a:rPr lang="en-US" dirty="0"/>
              <a:t>If two vectors are represented by components, we add each component individually — x with x, y with y, and so on.</a:t>
            </a:r>
            <a:br>
              <a:rPr lang="en-US" dirty="0"/>
            </a:br>
            <a:r>
              <a:rPr lang="en-US" dirty="0"/>
              <a:t>Geometrically, this looks like placing one vector at the tip of another, creating a new vector.</a:t>
            </a:r>
            <a:br>
              <a:rPr lang="en-US" dirty="0"/>
            </a:br>
            <a:r>
              <a:rPr lang="en-US" dirty="0"/>
              <a:t>This simple idea becomes powerful when working with embeddings, gradients, and transformations in machine learning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https://www.desmos.com/calculator/nfle2zawsk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6523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Scalar multiplication stretches or shrinks a vector.</a:t>
            </a:r>
            <a:br>
              <a:rPr lang="en-US" dirty="0"/>
            </a:br>
            <a:r>
              <a:rPr lang="en-US" dirty="0"/>
              <a:t>If you multiply a vector by a positive scalar, you change its magnitude but not its direction.</a:t>
            </a:r>
            <a:br>
              <a:rPr lang="en-US" dirty="0"/>
            </a:br>
            <a:r>
              <a:rPr lang="en-US" dirty="0"/>
              <a:t>A negative scalar flips the direction.</a:t>
            </a:r>
            <a:br>
              <a:rPr lang="en-US" dirty="0"/>
            </a:br>
            <a:r>
              <a:rPr lang="en-US" dirty="0"/>
              <a:t>This is crucial in optimization, where step sizes—controlled by scalars—determine how the model moves toward a minimum during training.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5057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Next, the </a:t>
            </a:r>
            <a:r>
              <a:rPr lang="en-US" b="1" dirty="0"/>
              <a:t>dot product</a:t>
            </a:r>
            <a:r>
              <a:rPr lang="en-US" dirty="0"/>
              <a:t>, one of the most important tools in machine learning.</a:t>
            </a:r>
            <a:br>
              <a:rPr lang="en-US" dirty="0"/>
            </a:br>
            <a:r>
              <a:rPr lang="en-US" dirty="0"/>
              <a:t>The dot product multiplies corresponding components of two vectors and sums the results.</a:t>
            </a:r>
            <a:br>
              <a:rPr lang="en-US" dirty="0"/>
            </a:br>
            <a:r>
              <a:rPr lang="en-US" dirty="0"/>
              <a:t>What’s special is what it represents:</a:t>
            </a:r>
            <a:br>
              <a:rPr lang="en-US" dirty="0"/>
            </a:br>
            <a:r>
              <a:rPr lang="en-US" dirty="0"/>
              <a:t>The dot product measures </a:t>
            </a:r>
            <a:r>
              <a:rPr lang="en-US" b="1" dirty="0"/>
              <a:t>similarity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two vectors point in similar directions, they have a high dot product; if perpendicular, the dot product is zero; if opposite, it becomes negative.</a:t>
            </a:r>
            <a:br>
              <a:rPr lang="en-US" dirty="0"/>
            </a:br>
            <a:r>
              <a:rPr lang="en-US" dirty="0"/>
              <a:t>This is the reason dot products power recommendation systems, attention mechanisms, and neural network layers.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111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Now let’s move to matrix multiplication — the engine of neural networks.</a:t>
            </a:r>
            <a:br>
              <a:rPr lang="en-US" dirty="0"/>
            </a:br>
            <a:r>
              <a:rPr lang="en-US" dirty="0"/>
              <a:t>Matrix multiplication transforms vectors.</a:t>
            </a:r>
            <a:br>
              <a:rPr lang="en-US" dirty="0"/>
            </a:br>
            <a:r>
              <a:rPr lang="en-US" dirty="0"/>
              <a:t>When you multiply a matrix by a vector, you're applying a transformation such as stretching, rotating, or projecting.</a:t>
            </a:r>
            <a:br>
              <a:rPr lang="en-US" dirty="0"/>
            </a:br>
            <a:r>
              <a:rPr lang="en-US" dirty="0"/>
              <a:t>In neural networks, each layer is a matrix that transforms its input vector into another space.</a:t>
            </a:r>
            <a:br>
              <a:rPr lang="en-US" dirty="0"/>
            </a:br>
            <a:r>
              <a:rPr lang="en-US" dirty="0"/>
              <a:t>This is why matrix multiplication is at the core of all deep learning computations.</a:t>
            </a:r>
            <a:br>
              <a:rPr lang="en-US" dirty="0"/>
            </a:br>
            <a:r>
              <a:rPr lang="en-US" dirty="0"/>
              <a:t>Behind every forward pass or backward pass in a model is a massive amount of matrix math happening millions of times per second.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https://www.desmos.com/calculator/mw1pz860jk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3606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https://inria.github.io/scikit-learn-mooc/python_scripts/datasets_california_housing.html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Challenge</a:t>
            </a:r>
            <a:r>
              <a:rPr lang="en-US" dirty="0"/>
              <a:t>: Estimate home values based on key features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Above data is first 10 rows from California housing dataset. Target house price is the last column “Med House value” * 100000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777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Challenge</a:t>
            </a:r>
            <a:r>
              <a:rPr lang="en-US" dirty="0"/>
              <a:t>: Estimate home values based on key features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Available data: Median income, Avg Rooms, house prices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 Find pattern: Features → Price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Let’s bring everything together with a real example from the dataset included in the PowerPoint.</a:t>
            </a:r>
            <a:br>
              <a:rPr lang="en-IN" dirty="0"/>
            </a:br>
            <a:r>
              <a:rPr lang="en-IN" dirty="0"/>
              <a:t>Suppose we have income levels and average room counts for different neighbourhoods.</a:t>
            </a:r>
            <a:br>
              <a:rPr lang="en-IN" dirty="0"/>
            </a:b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We also have a simple model:</a:t>
            </a:r>
            <a:br>
              <a:rPr lang="en-IN" dirty="0"/>
            </a:br>
            <a:r>
              <a:rPr lang="en-US" dirty="0"/>
              <a:t>Price=𝑏+𝑤_1× Income + 𝑤_2×Rooms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r>
              <a:rPr lang="en-IN" dirty="0"/>
              <a:t>We can rewrite these values into a matrix form, where each row represents a house and each column represents a feature.</a:t>
            </a:r>
            <a:br>
              <a:rPr lang="en-IN" dirty="0"/>
            </a:br>
            <a:r>
              <a:rPr lang="en-IN" dirty="0"/>
              <a:t>Then we multiply this matrix by a </a:t>
            </a:r>
            <a:r>
              <a:rPr lang="en-IN" b="1" dirty="0"/>
              <a:t>weight vector</a:t>
            </a:r>
            <a:r>
              <a:rPr lang="en-IN" dirty="0"/>
              <a:t> and add a </a:t>
            </a:r>
            <a:r>
              <a:rPr lang="en-IN" b="1" dirty="0"/>
              <a:t>bias term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This is classic linear algebra: a matrix–vector multiplication that produces predicted prices.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085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features contribute equally to the learning process.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Standardization scales data to have a mean of zero and a standard deviation of one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510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 × Vector = Predictions Vector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819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Inverse Matrix: Mathematical "Undo" Operation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multiplication is like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applying a transformation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the inverse is like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reversing that transformation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1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× 4 = 12  (Transformation: multiply by 4)</a:t>
            </a:r>
          </a:p>
          <a:p>
            <a:pPr latinLnBrk="1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 × ¼ = 3   (Inverse: multiply by 1/4)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2988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Inverse Matrix: Mathematical "Undo" Operation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multiplication is like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applying a transformation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the inverse is like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reversing that transformation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1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× 4 = 12  (Transformation: multiply by 4)</a:t>
            </a:r>
          </a:p>
          <a:p>
            <a:pPr latinLnBrk="1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 × ¼ = 3   (Inverse: multiply by 1/4)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9756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Verify: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(XᵀX) × (XᵀX)⁻¹ ≈ Identity matrix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393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Poor Results with Only 4 Houses?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 few samples: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Only 4 houses vs 4 features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Overfitting: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Model memorizes noise, not patterns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XᵀX nearly singular: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Hard to invert accurately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9119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79444-931A-A09F-D8CD-DC682C191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39FDD-ADF8-A65C-4ABF-666E00731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3C62B-0F94-73A3-391E-5F6AE46B4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5833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8E10-9657-7F0A-7165-013FD9E05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0C33B-FF47-48E1-EB9B-1A759C9E9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ED4D6-31DB-C440-8536-4F864F385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0E76C-F12F-E7E2-D8C4-F857AFF2A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06970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j8511/mathsforml/tree/main/linearalgebra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349F73-4F21-989C-3A17-34CE8680F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Linear Algebra in Machine Learning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6C71627D-E5B5-528C-9CBB-56BB53C858D5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971127-2C23-0579-C930-92D0A614DB60}"/>
              </a:ext>
            </a:extLst>
          </p:cNvPr>
          <p:cNvSpPr/>
          <p:nvPr/>
        </p:nvSpPr>
        <p:spPr>
          <a:xfrm>
            <a:off x="1086375" y="1791117"/>
            <a:ext cx="7478785" cy="3932789"/>
          </a:xfrm>
          <a:prstGeom prst="roundRect">
            <a:avLst>
              <a:gd name="adj" fmla="val 23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IN" dirty="0"/>
              <a:t>Scalars, Vectors, Matrices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IN" dirty="0"/>
              <a:t>Coordinate Systems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IN" dirty="0"/>
              <a:t>Vector addition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IN" dirty="0"/>
              <a:t>Dot Product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IN" dirty="0"/>
              <a:t>Matrix Multiplication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IN" dirty="0"/>
              <a:t>Housing price prediction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543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BD428C-F41A-162C-C7B8-23D69F643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Scalar, Vector, Matrix</a:t>
            </a:r>
            <a:endParaRPr sz="3200" b="1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5C752-5B42-62E7-E13C-07142C50D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29" y="1025533"/>
            <a:ext cx="7337192" cy="2281193"/>
          </a:xfrm>
          <a:prstGeom prst="rect">
            <a:avLst/>
          </a:prstGeom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A1C28C-AC2C-FDAB-E051-5B927795CD72}"/>
              </a:ext>
            </a:extLst>
          </p:cNvPr>
          <p:cNvSpPr/>
          <p:nvPr/>
        </p:nvSpPr>
        <p:spPr>
          <a:xfrm>
            <a:off x="1086375" y="5111014"/>
            <a:ext cx="7478785" cy="1442906"/>
          </a:xfrm>
          <a:prstGeom prst="roundRect">
            <a:avLst>
              <a:gd name="adj" fmla="val 23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defRPr sz="1800">
                <a:solidFill>
                  <a:srgbClr val="404040"/>
                </a:solidFill>
              </a:defRPr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dirty="0"/>
              <a:t>Scalars are 0D, vectors are 1D and matrices are 2D arrays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dirty="0"/>
              <a:t>A tensor is a mathematical object that generalizes </a:t>
            </a:r>
            <a:r>
              <a:rPr lang="en-IN" dirty="0"/>
              <a:t>Scalars, Vector, Matrices to higher dimensions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FA291A-5EEE-CE80-4D3F-A7A06133BE69}"/>
              </a:ext>
            </a:extLst>
          </p:cNvPr>
          <p:cNvSpPr/>
          <p:nvPr/>
        </p:nvSpPr>
        <p:spPr>
          <a:xfrm>
            <a:off x="1062529" y="3433047"/>
            <a:ext cx="2360179" cy="1459684"/>
          </a:xfrm>
          <a:prstGeom prst="roundRect">
            <a:avLst>
              <a:gd name="adj" fmla="val 13753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Scalar is a single numerical value that has only magnitude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4CCBFB-027F-0E78-DAA9-836613C1877D}"/>
              </a:ext>
            </a:extLst>
          </p:cNvPr>
          <p:cNvSpPr/>
          <p:nvPr/>
        </p:nvSpPr>
        <p:spPr>
          <a:xfrm>
            <a:off x="3550049" y="3429000"/>
            <a:ext cx="2438183" cy="1442906"/>
          </a:xfrm>
          <a:prstGeom prst="roundRect">
            <a:avLst>
              <a:gd name="adj" fmla="val 10772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Vector is an ordered array(or list) of numbers that has both magnitude and direction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D1583C-18FD-D7DC-FDAF-37A6C8FB1304}"/>
              </a:ext>
            </a:extLst>
          </p:cNvPr>
          <p:cNvSpPr/>
          <p:nvPr/>
        </p:nvSpPr>
        <p:spPr>
          <a:xfrm>
            <a:off x="6126977" y="3449825"/>
            <a:ext cx="2438183" cy="1442906"/>
          </a:xfrm>
          <a:prstGeom prst="roundRect">
            <a:avLst>
              <a:gd name="adj" fmla="val 10035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>
                <a:solidFill>
                  <a:schemeClr val="tx1"/>
                </a:solidFill>
              </a:rPr>
              <a:t>A matrix is a rectangular array of numbers arranged in rows and columns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BC3D2091-BA85-35E0-A7CE-688FEEA27B8C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42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416911D-7CEF-6E6D-C0C6-7D18BB477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Coordinate System</a:t>
            </a:r>
            <a:endParaRPr sz="3200" b="1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87520-92B7-111D-D2FF-5378DF650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85" y="982791"/>
            <a:ext cx="7377829" cy="33127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625FC8-44E9-354A-47D5-4CD1F35DCE36}"/>
              </a:ext>
            </a:extLst>
          </p:cNvPr>
          <p:cNvSpPr/>
          <p:nvPr/>
        </p:nvSpPr>
        <p:spPr>
          <a:xfrm>
            <a:off x="914400" y="4422999"/>
            <a:ext cx="7377829" cy="2073494"/>
          </a:xfrm>
          <a:prstGeom prst="roundRect">
            <a:avLst>
              <a:gd name="adj" fmla="val 23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dirty="0"/>
              <a:t>From two dimensions perspective, you have a horizontal line, called the x-axis, and a vertical line, called the y-axis.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dirty="0"/>
              <a:t>The place where they intersect is the origin.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dirty="0"/>
              <a:t>In three dimensions, we have 3</a:t>
            </a:r>
            <a:r>
              <a:rPr lang="en-US" baseline="30000" dirty="0"/>
              <a:t>rd</a:t>
            </a:r>
            <a:r>
              <a:rPr lang="en-US" dirty="0"/>
              <a:t> axis called z-axis which is perpendicular to both x and y axis.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dirty="0"/>
              <a:t>https://www.desmos.com/calculator/nfle2zawsk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5F7C42FA-1B8C-3BB5-8652-5D605105EF7E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266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6A7CA4-65AD-BF78-2063-2B788863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Vector addition</a:t>
            </a:r>
            <a:endParaRPr sz="3200" b="1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8530C-4533-64A1-FEA1-5D44D4593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52" y="1491965"/>
            <a:ext cx="5100647" cy="22504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52F58F-0878-97B4-DB39-A3B6ABAD06EC}"/>
              </a:ext>
            </a:extLst>
          </p:cNvPr>
          <p:cNvSpPr/>
          <p:nvPr/>
        </p:nvSpPr>
        <p:spPr>
          <a:xfrm>
            <a:off x="1013452" y="4028181"/>
            <a:ext cx="7117096" cy="2172750"/>
          </a:xfrm>
          <a:prstGeom prst="roundRect">
            <a:avLst>
              <a:gd name="adj" fmla="val 23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dirty="0"/>
              <a:t>If vectors are represented by their components, then add the corresponding components.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dirty="0"/>
              <a:t>For example, add x-component of first vector to x-component of second vector 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dirty="0"/>
              <a:t>https://www.desmos.com/calculator/nfle2zawsk</a:t>
            </a:r>
            <a:endParaRPr lang="en-IN" dirty="0"/>
          </a:p>
          <a:p>
            <a:pPr>
              <a:defRPr sz="1800">
                <a:solidFill>
                  <a:srgbClr val="404040"/>
                </a:solidFill>
              </a:defRPr>
            </a:pPr>
            <a:endParaRPr lang="en-US" dirty="0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DF03CF43-41C1-F1E0-DF97-F0689B2EBC1E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057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35DD7CB-33DE-C3C3-749C-B868209F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Scalar Multiplication</a:t>
            </a:r>
            <a:endParaRPr sz="3200" b="1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0A8C82-9A6D-2C0A-3504-1BEC5F31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71" y="1052624"/>
            <a:ext cx="6967012" cy="410416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4ACE49-E3AF-058C-240B-E715EFEEAAA9}"/>
              </a:ext>
            </a:extLst>
          </p:cNvPr>
          <p:cNvSpPr/>
          <p:nvPr/>
        </p:nvSpPr>
        <p:spPr>
          <a:xfrm>
            <a:off x="1028670" y="5298526"/>
            <a:ext cx="6967013" cy="1380544"/>
          </a:xfrm>
          <a:prstGeom prst="roundRect">
            <a:avLst>
              <a:gd name="adj" fmla="val 850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defRPr sz="1800">
                <a:solidFill>
                  <a:srgbClr val="40404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Multiplying a vector by a scalar, changes its magnitude but not its direction (unless the scalar is negative, which reverse the direction)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endParaRPr lang="en-US" dirty="0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93E3A9E-5E3F-490C-553E-BD910AC5227B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716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0362038-827E-BEF6-AC19-4D388FCC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Dot Product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C3E6B0-29CD-A112-F590-92C4D40AA285}"/>
              </a:ext>
            </a:extLst>
          </p:cNvPr>
          <p:cNvSpPr/>
          <p:nvPr/>
        </p:nvSpPr>
        <p:spPr>
          <a:xfrm>
            <a:off x="3598222" y="4431932"/>
            <a:ext cx="5308271" cy="2265751"/>
          </a:xfrm>
          <a:prstGeom prst="roundRect">
            <a:avLst>
              <a:gd name="adj" fmla="val 1043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dirty="0"/>
              <a:t>This operation takes two vectors and results in a scalar value. It represents the extent to which the vectors are parallel.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dirty="0"/>
              <a:t>Result is maximized when vectors point in the same direction, is zero when they are perpendicular, and is minimized (most negative) when they point in opposite directions. 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0883FF-BC3B-A2DF-65A0-FF065F685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900534"/>
              </p:ext>
            </p:extLst>
          </p:nvPr>
        </p:nvGraphicFramePr>
        <p:xfrm>
          <a:off x="362029" y="1001972"/>
          <a:ext cx="6798790" cy="3418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0240">
                  <a:extLst>
                    <a:ext uri="{9D8B030D-6E8A-4147-A177-3AD203B41FA5}">
                      <a16:colId xmlns:a16="http://schemas.microsoft.com/office/drawing/2014/main" val="205421864"/>
                    </a:ext>
                  </a:extLst>
                </a:gridCol>
                <a:gridCol w="1416335">
                  <a:extLst>
                    <a:ext uri="{9D8B030D-6E8A-4147-A177-3AD203B41FA5}">
                      <a16:colId xmlns:a16="http://schemas.microsoft.com/office/drawing/2014/main" val="192339454"/>
                    </a:ext>
                  </a:extLst>
                </a:gridCol>
                <a:gridCol w="845775">
                  <a:extLst>
                    <a:ext uri="{9D8B030D-6E8A-4147-A177-3AD203B41FA5}">
                      <a16:colId xmlns:a16="http://schemas.microsoft.com/office/drawing/2014/main" val="3861341963"/>
                    </a:ext>
                  </a:extLst>
                </a:gridCol>
                <a:gridCol w="808934">
                  <a:extLst>
                    <a:ext uri="{9D8B030D-6E8A-4147-A177-3AD203B41FA5}">
                      <a16:colId xmlns:a16="http://schemas.microsoft.com/office/drawing/2014/main" val="1228752361"/>
                    </a:ext>
                  </a:extLst>
                </a:gridCol>
                <a:gridCol w="2117506">
                  <a:extLst>
                    <a:ext uri="{9D8B030D-6E8A-4147-A177-3AD203B41FA5}">
                      <a16:colId xmlns:a16="http://schemas.microsoft.com/office/drawing/2014/main" val="1252696137"/>
                    </a:ext>
                  </a:extLst>
                </a:gridCol>
              </a:tblGrid>
              <a:tr h="3373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Movie1</a:t>
                      </a: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(like)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Movie2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931089"/>
                  </a:ext>
                </a:extLst>
              </a:tr>
              <a:tr h="258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Action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2*8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16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57524429"/>
                  </a:ext>
                </a:extLst>
              </a:tr>
              <a:tr h="258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Commedy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7*2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14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55901903"/>
                  </a:ext>
                </a:extLst>
              </a:tr>
              <a:tr h="258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Drama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3*8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24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8229589"/>
                  </a:ext>
                </a:extLst>
              </a:tr>
              <a:tr h="258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16 + 14 +24  = 54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177031"/>
                  </a:ext>
                </a:extLst>
              </a:tr>
              <a:tr h="258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82442804"/>
                  </a:ext>
                </a:extLst>
              </a:tr>
              <a:tr h="5117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Movie1</a:t>
                      </a:r>
                    </a:p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(like)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Movie3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62902855"/>
                  </a:ext>
                </a:extLst>
              </a:tr>
              <a:tr h="258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Action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2*8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16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1789430"/>
                  </a:ext>
                </a:extLst>
              </a:tr>
              <a:tr h="258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Commedy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7*1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47525251"/>
                  </a:ext>
                </a:extLst>
              </a:tr>
              <a:tr h="258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Drama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3*4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12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36773105"/>
                  </a:ext>
                </a:extLst>
              </a:tr>
              <a:tr h="2587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 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16 + 7 + 12  = 35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69320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1BF2942-E161-7F5E-1147-5FC8B51DF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06" y="4431932"/>
            <a:ext cx="3277589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40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89E371-35DD-098F-96A3-EFC069A4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38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Matrix Multiplication</a:t>
            </a:r>
            <a:endParaRPr sz="3200" b="1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7753F2-11BA-5D09-5A01-5A197A532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83" y="997730"/>
            <a:ext cx="8337428" cy="350530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AE71B4-585E-7DB9-71F8-76C94DDCAC0A}"/>
              </a:ext>
            </a:extLst>
          </p:cNvPr>
          <p:cNvSpPr/>
          <p:nvPr/>
        </p:nvSpPr>
        <p:spPr>
          <a:xfrm>
            <a:off x="4960775" y="4503036"/>
            <a:ext cx="3689373" cy="2238006"/>
          </a:xfrm>
          <a:prstGeom prst="roundRect">
            <a:avLst>
              <a:gd name="adj" fmla="val 1268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60BB17-720D-51DD-7811-D60DB3915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464" y="4691327"/>
            <a:ext cx="3236014" cy="1793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F3BE86C-A5FD-99E2-2B06-9A013FD9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901" y="4400567"/>
            <a:ext cx="4215563" cy="1828800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endParaRPr sz="2400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1800" dirty="0"/>
              <a:t>Transforms vectors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sz="1800" dirty="0"/>
              <a:t>Core of neural network computation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FC103A86-11CB-A1FF-C6BF-6F3DF470A16C}"/>
              </a:ext>
            </a:extLst>
          </p:cNvPr>
          <p:cNvSpPr/>
          <p:nvPr/>
        </p:nvSpPr>
        <p:spPr>
          <a:xfrm>
            <a:off x="0" y="6333498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11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6D67461-47B9-FB78-0065-EC2536B4FCB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58920"/>
          </a:xfrm>
          <a:prstGeom prst="rect">
            <a:avLst/>
          </a:prstGeom>
          <a:solidFill>
            <a:srgbClr val="EDEBD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>
              <a:spcBef>
                <a:spcPct val="0"/>
              </a:spcBef>
              <a:buNone/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🏠 Can we predict house prices?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131A786-DED7-10C7-0FB3-959ACE40D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136" y="1017537"/>
            <a:ext cx="5293845" cy="491707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404040"/>
                </a:solidFill>
              </a:defRPr>
            </a:pPr>
            <a:r>
              <a:rPr lang="en-US" sz="1800" dirty="0"/>
              <a:t>California housing data</a:t>
            </a:r>
            <a:endParaRPr sz="18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FADB427-A8ED-B121-64F8-790B96B7A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936753"/>
              </p:ext>
            </p:extLst>
          </p:nvPr>
        </p:nvGraphicFramePr>
        <p:xfrm>
          <a:off x="637564" y="1547946"/>
          <a:ext cx="8372212" cy="4819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218">
                  <a:extLst>
                    <a:ext uri="{9D8B030D-6E8A-4147-A177-3AD203B41FA5}">
                      <a16:colId xmlns:a16="http://schemas.microsoft.com/office/drawing/2014/main" val="3994455399"/>
                    </a:ext>
                  </a:extLst>
                </a:gridCol>
                <a:gridCol w="792404">
                  <a:extLst>
                    <a:ext uri="{9D8B030D-6E8A-4147-A177-3AD203B41FA5}">
                      <a16:colId xmlns:a16="http://schemas.microsoft.com/office/drawing/2014/main" val="3792070335"/>
                    </a:ext>
                  </a:extLst>
                </a:gridCol>
                <a:gridCol w="792404">
                  <a:extLst>
                    <a:ext uri="{9D8B030D-6E8A-4147-A177-3AD203B41FA5}">
                      <a16:colId xmlns:a16="http://schemas.microsoft.com/office/drawing/2014/main" val="3731267718"/>
                    </a:ext>
                  </a:extLst>
                </a:gridCol>
                <a:gridCol w="792404">
                  <a:extLst>
                    <a:ext uri="{9D8B030D-6E8A-4147-A177-3AD203B41FA5}">
                      <a16:colId xmlns:a16="http://schemas.microsoft.com/office/drawing/2014/main" val="1463615601"/>
                    </a:ext>
                  </a:extLst>
                </a:gridCol>
                <a:gridCol w="792404">
                  <a:extLst>
                    <a:ext uri="{9D8B030D-6E8A-4147-A177-3AD203B41FA5}">
                      <a16:colId xmlns:a16="http://schemas.microsoft.com/office/drawing/2014/main" val="3863475682"/>
                    </a:ext>
                  </a:extLst>
                </a:gridCol>
                <a:gridCol w="1076006">
                  <a:extLst>
                    <a:ext uri="{9D8B030D-6E8A-4147-A177-3AD203B41FA5}">
                      <a16:colId xmlns:a16="http://schemas.microsoft.com/office/drawing/2014/main" val="1235655131"/>
                    </a:ext>
                  </a:extLst>
                </a:gridCol>
                <a:gridCol w="679976">
                  <a:extLst>
                    <a:ext uri="{9D8B030D-6E8A-4147-A177-3AD203B41FA5}">
                      <a16:colId xmlns:a16="http://schemas.microsoft.com/office/drawing/2014/main" val="1816836631"/>
                    </a:ext>
                  </a:extLst>
                </a:gridCol>
                <a:gridCol w="832972">
                  <a:extLst>
                    <a:ext uri="{9D8B030D-6E8A-4147-A177-3AD203B41FA5}">
                      <a16:colId xmlns:a16="http://schemas.microsoft.com/office/drawing/2014/main" val="3667510117"/>
                    </a:ext>
                  </a:extLst>
                </a:gridCol>
                <a:gridCol w="1079462">
                  <a:extLst>
                    <a:ext uri="{9D8B030D-6E8A-4147-A177-3AD203B41FA5}">
                      <a16:colId xmlns:a16="http://schemas.microsoft.com/office/drawing/2014/main" val="2665309316"/>
                    </a:ext>
                  </a:extLst>
                </a:gridCol>
                <a:gridCol w="1104962">
                  <a:extLst>
                    <a:ext uri="{9D8B030D-6E8A-4147-A177-3AD203B41FA5}">
                      <a16:colId xmlns:a16="http://schemas.microsoft.com/office/drawing/2014/main" val="1735271101"/>
                    </a:ext>
                  </a:extLst>
                </a:gridCol>
              </a:tblGrid>
              <a:tr h="7541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 SR#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MedInc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House</a:t>
                      </a:r>
                    </a:p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Age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Ave</a:t>
                      </a:r>
                    </a:p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Rooms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Ave</a:t>
                      </a:r>
                    </a:p>
                    <a:p>
                      <a:pPr algn="l" fontAlgn="b">
                        <a:buNone/>
                      </a:pPr>
                      <a:r>
                        <a:rPr lang="en-IN" sz="1800" u="none" strike="noStrike" dirty="0" err="1">
                          <a:effectLst/>
                        </a:rPr>
                        <a:t>Bedrms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Population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 err="1">
                          <a:effectLst/>
                        </a:rPr>
                        <a:t>AveOccup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Latitude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Longitude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 err="1">
                          <a:effectLst/>
                        </a:rPr>
                        <a:t>MedHouse</a:t>
                      </a:r>
                      <a:endParaRPr lang="en-IN" sz="1800" u="none" strike="noStrike" dirty="0">
                        <a:effectLst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Val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212536"/>
                  </a:ext>
                </a:extLst>
              </a:tr>
              <a:tr h="4064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8.3252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41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6.9841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1.0238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322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2.5556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37.88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-122.23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4.526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350663"/>
                  </a:ext>
                </a:extLst>
              </a:tr>
              <a:tr h="4064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8.3014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6.2381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0.9719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2401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2.1098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37.86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-122.22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3.585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758403"/>
                  </a:ext>
                </a:extLst>
              </a:tr>
              <a:tr h="4064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7.2574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52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8.2881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1.0734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496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2.8023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37.85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-122.24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3.521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878"/>
                  </a:ext>
                </a:extLst>
              </a:tr>
              <a:tr h="4064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5.6431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52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5.8174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1.0731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558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2.5479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37.85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-122.25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3.413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93483"/>
                  </a:ext>
                </a:extLst>
              </a:tr>
              <a:tr h="4064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3.8462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52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6.2819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1.0811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565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2.1815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37.85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-122.25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3.422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968459"/>
                  </a:ext>
                </a:extLst>
              </a:tr>
              <a:tr h="4064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4.0368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52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4.7619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1.1036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413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2.1399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37.85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-122.25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2.697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073745"/>
                  </a:ext>
                </a:extLst>
              </a:tr>
              <a:tr h="4064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3.6591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52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4.9317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1.1128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1094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2.1284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37.84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-122.25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2.992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7400"/>
                  </a:ext>
                </a:extLst>
              </a:tr>
              <a:tr h="4064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3.12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52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4.7975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1.0869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1157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2.0269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37.84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-122.25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2.414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623527"/>
                  </a:ext>
                </a:extLst>
              </a:tr>
              <a:tr h="4064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2.0804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42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4.2941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1.049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1206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1.9913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37.84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-122.26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2.267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714645"/>
                  </a:ext>
                </a:extLst>
              </a:tr>
              <a:tr h="4064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3.6912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52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4.9706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1.0663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1551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2.4513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>
                          <a:effectLst/>
                        </a:rPr>
                        <a:t>37.84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-122.25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800" u="none" strike="noStrike" dirty="0">
                          <a:effectLst/>
                        </a:rPr>
                        <a:t>2.611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36078"/>
                  </a:ext>
                </a:extLst>
              </a:tr>
            </a:tbl>
          </a:graphicData>
        </a:graphic>
      </p:graphicFrame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3D13446-F75C-6621-E12B-BE574C120B76}"/>
              </a:ext>
            </a:extLst>
          </p:cNvPr>
          <p:cNvSpPr/>
          <p:nvPr/>
        </p:nvSpPr>
        <p:spPr>
          <a:xfrm>
            <a:off x="0" y="6367047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23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EA24C18-88EE-4E07-5563-7E3C97B7B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38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Feature selection</a:t>
            </a:r>
            <a:endParaRPr sz="3200" b="1" dirty="0">
              <a:solidFill>
                <a:schemeClr val="tx2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8077FC-88EF-D619-14DD-E929C73B8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804068"/>
              </p:ext>
            </p:extLst>
          </p:nvPr>
        </p:nvGraphicFramePr>
        <p:xfrm>
          <a:off x="668055" y="1080655"/>
          <a:ext cx="7906005" cy="23154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4001">
                  <a:extLst>
                    <a:ext uri="{9D8B030D-6E8A-4147-A177-3AD203B41FA5}">
                      <a16:colId xmlns:a16="http://schemas.microsoft.com/office/drawing/2014/main" val="3870161245"/>
                    </a:ext>
                  </a:extLst>
                </a:gridCol>
                <a:gridCol w="2144001">
                  <a:extLst>
                    <a:ext uri="{9D8B030D-6E8A-4147-A177-3AD203B41FA5}">
                      <a16:colId xmlns:a16="http://schemas.microsoft.com/office/drawing/2014/main" val="2661095763"/>
                    </a:ext>
                  </a:extLst>
                </a:gridCol>
                <a:gridCol w="1741791">
                  <a:extLst>
                    <a:ext uri="{9D8B030D-6E8A-4147-A177-3AD203B41FA5}">
                      <a16:colId xmlns:a16="http://schemas.microsoft.com/office/drawing/2014/main" val="3326434915"/>
                    </a:ext>
                  </a:extLst>
                </a:gridCol>
                <a:gridCol w="1876212">
                  <a:extLst>
                    <a:ext uri="{9D8B030D-6E8A-4147-A177-3AD203B41FA5}">
                      <a16:colId xmlns:a16="http://schemas.microsoft.com/office/drawing/2014/main" val="1058594513"/>
                    </a:ext>
                  </a:extLst>
                </a:gridCol>
              </a:tblGrid>
              <a:tr h="7718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Median</a:t>
                      </a:r>
                      <a:br>
                        <a:rPr lang="en-IN" sz="2000" u="none" strike="noStrike" dirty="0">
                          <a:effectLst/>
                        </a:rPr>
                      </a:br>
                      <a:r>
                        <a:rPr lang="en-IN" sz="2000" u="none" strike="noStrike" dirty="0">
                          <a:effectLst/>
                        </a:rPr>
                        <a:t>Income (x $10000)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Average </a:t>
                      </a:r>
                      <a:br>
                        <a:rPr lang="en-IN" sz="2000" u="none" strike="noStrike" dirty="0">
                          <a:effectLst/>
                        </a:rPr>
                      </a:br>
                      <a:r>
                        <a:rPr lang="en-IN" sz="2000" u="none" strike="noStrike" dirty="0">
                          <a:effectLst/>
                        </a:rPr>
                        <a:t>Rooms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House</a:t>
                      </a:r>
                      <a:br>
                        <a:rPr lang="en-IN" sz="2000" u="none" strike="noStrike" dirty="0">
                          <a:effectLst/>
                        </a:rPr>
                      </a:br>
                      <a:r>
                        <a:rPr lang="en-IN" sz="2000" u="none" strike="noStrike" dirty="0">
                          <a:effectLst/>
                        </a:rPr>
                        <a:t>Age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House prices (x $100000)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00063"/>
                  </a:ext>
                </a:extLst>
              </a:tr>
              <a:tr h="38591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8.3252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6.9841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41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4.526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95849"/>
                  </a:ext>
                </a:extLst>
              </a:tr>
              <a:tr h="38591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8.3014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6.2381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21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3.585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561341"/>
                  </a:ext>
                </a:extLst>
              </a:tr>
              <a:tr h="38591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7.2574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8.2881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52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3.521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420162"/>
                  </a:ext>
                </a:extLst>
              </a:tr>
              <a:tr h="38591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5.6431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5.8174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52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3.413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744165"/>
                  </a:ext>
                </a:extLst>
              </a:tr>
            </a:tbl>
          </a:graphicData>
        </a:graphic>
      </p:graphicFrame>
      <p:sp>
        <p:nvSpPr>
          <p:cNvPr id="6" name="Double Bracket 5">
            <a:extLst>
              <a:ext uri="{FF2B5EF4-FFF2-40B4-BE49-F238E27FC236}">
                <a16:creationId xmlns:a16="http://schemas.microsoft.com/office/drawing/2014/main" id="{D91DD188-100C-8D1D-BED3-E8B379D756F5}"/>
              </a:ext>
            </a:extLst>
          </p:cNvPr>
          <p:cNvSpPr/>
          <p:nvPr/>
        </p:nvSpPr>
        <p:spPr>
          <a:xfrm>
            <a:off x="814092" y="3656120"/>
            <a:ext cx="3002671" cy="119738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04040"/>
                </a:solidFill>
              </a:defRPr>
            </a:pPr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FE933D-65F3-5E85-1A95-189CCEF77EEB}"/>
              </a:ext>
            </a:extLst>
          </p:cNvPr>
          <p:cNvSpPr txBox="1"/>
          <p:nvPr/>
        </p:nvSpPr>
        <p:spPr>
          <a:xfrm>
            <a:off x="937359" y="3645610"/>
            <a:ext cx="27324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>
              <a:defRPr sz="1800">
                <a:solidFill>
                  <a:srgbClr val="404040"/>
                </a:solidFill>
              </a:defRPr>
            </a:pPr>
            <a:r>
              <a:rPr lang="en-IN" dirty="0"/>
              <a:t>1 	8.3252	6.9841  41</a:t>
            </a:r>
          </a:p>
          <a:p>
            <a:pPr fontAlgn="ctr">
              <a:defRPr sz="1800">
                <a:solidFill>
                  <a:srgbClr val="404040"/>
                </a:solidFill>
              </a:defRPr>
            </a:pPr>
            <a:r>
              <a:rPr lang="en-IN" dirty="0"/>
              <a:t>1	8.3014	6.2381  21</a:t>
            </a:r>
          </a:p>
          <a:p>
            <a:pPr fontAlgn="ctr">
              <a:defRPr sz="1800">
                <a:solidFill>
                  <a:srgbClr val="404040"/>
                </a:solidFill>
              </a:defRPr>
            </a:pPr>
            <a:r>
              <a:rPr lang="en-IN" dirty="0"/>
              <a:t>1	7.2574	8.2881  52</a:t>
            </a:r>
          </a:p>
          <a:p>
            <a:pPr fontAlgn="ctr"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1	5.6431	5.8174  52</a:t>
            </a:r>
          </a:p>
        </p:txBody>
      </p:sp>
      <p:sp>
        <p:nvSpPr>
          <p:cNvPr id="8" name="Double Bracket 7">
            <a:extLst>
              <a:ext uri="{FF2B5EF4-FFF2-40B4-BE49-F238E27FC236}">
                <a16:creationId xmlns:a16="http://schemas.microsoft.com/office/drawing/2014/main" id="{A38FE78B-38D1-A7ED-26E2-22E161ECBB52}"/>
              </a:ext>
            </a:extLst>
          </p:cNvPr>
          <p:cNvSpPr/>
          <p:nvPr/>
        </p:nvSpPr>
        <p:spPr>
          <a:xfrm>
            <a:off x="4400748" y="3633098"/>
            <a:ext cx="1528384" cy="119738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04040"/>
                </a:solidFill>
              </a:defRPr>
            </a:pPr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F385C-830E-50AF-0F43-4728B9189E30}"/>
              </a:ext>
            </a:extLst>
          </p:cNvPr>
          <p:cNvSpPr txBox="1"/>
          <p:nvPr/>
        </p:nvSpPr>
        <p:spPr>
          <a:xfrm>
            <a:off x="3968949" y="4126349"/>
            <a:ext cx="31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X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7419BC-688A-68FF-42F0-7C6A6C388B5E}"/>
              </a:ext>
            </a:extLst>
          </p:cNvPr>
          <p:cNvSpPr txBox="1"/>
          <p:nvPr/>
        </p:nvSpPr>
        <p:spPr>
          <a:xfrm>
            <a:off x="4990997" y="3647579"/>
            <a:ext cx="60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b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W1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W2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W3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D8586C-1A2B-95B7-439E-77039CC54099}"/>
              </a:ext>
            </a:extLst>
          </p:cNvPr>
          <p:cNvSpPr txBox="1"/>
          <p:nvPr/>
        </p:nvSpPr>
        <p:spPr>
          <a:xfrm>
            <a:off x="6370557" y="4099643"/>
            <a:ext cx="31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=</a:t>
            </a:r>
            <a:endParaRPr lang="en-IN" dirty="0"/>
          </a:p>
        </p:txBody>
      </p:sp>
      <p:sp>
        <p:nvSpPr>
          <p:cNvPr id="12" name="Double Bracket 11">
            <a:extLst>
              <a:ext uri="{FF2B5EF4-FFF2-40B4-BE49-F238E27FC236}">
                <a16:creationId xmlns:a16="http://schemas.microsoft.com/office/drawing/2014/main" id="{6CF85945-B924-30FD-B9C9-40D10C5F304C}"/>
              </a:ext>
            </a:extLst>
          </p:cNvPr>
          <p:cNvSpPr/>
          <p:nvPr/>
        </p:nvSpPr>
        <p:spPr>
          <a:xfrm>
            <a:off x="6961858" y="3633098"/>
            <a:ext cx="1528384" cy="119738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04040"/>
                </a:solidFill>
              </a:defRPr>
            </a:pPr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85B831-D8CB-C5CC-3612-AB689784B8E6}"/>
              </a:ext>
            </a:extLst>
          </p:cNvPr>
          <p:cNvSpPr txBox="1"/>
          <p:nvPr/>
        </p:nvSpPr>
        <p:spPr>
          <a:xfrm>
            <a:off x="7287459" y="3618124"/>
            <a:ext cx="1050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452600</a:t>
            </a:r>
            <a:endParaRPr lang="en-US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358500</a:t>
            </a:r>
            <a:endParaRPr lang="en-US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352100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341300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08327B-D33E-97CA-BEAB-F2BB5108148C}"/>
              </a:ext>
            </a:extLst>
          </p:cNvPr>
          <p:cNvSpPr/>
          <p:nvPr/>
        </p:nvSpPr>
        <p:spPr>
          <a:xfrm>
            <a:off x="814093" y="4992530"/>
            <a:ext cx="7759968" cy="1374517"/>
          </a:xfrm>
          <a:prstGeom prst="roundRect">
            <a:avLst>
              <a:gd name="adj" fmla="val 910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Price₁ = b + w₁×Income₁ + w₂×Rooms₁ + w</a:t>
            </a:r>
            <a:r>
              <a:rPr lang="en-IN" sz="1200" b="1" dirty="0"/>
              <a:t>3 </a:t>
            </a:r>
            <a:r>
              <a:rPr lang="en-IN" dirty="0"/>
              <a:t>× House age₁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Price₂ = b + w₁×Income₂ + w₂×Rooms₂ + w</a:t>
            </a:r>
            <a:r>
              <a:rPr lang="en-IN" sz="1200" b="1" dirty="0"/>
              <a:t>3 </a:t>
            </a:r>
            <a:r>
              <a:rPr lang="en-IN" dirty="0"/>
              <a:t>× House age₂ 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Price₃ = b+ w₁×Income₃ + w₂×Rooms₃ + w</a:t>
            </a:r>
            <a:r>
              <a:rPr lang="en-IN" sz="1200" b="1" dirty="0"/>
              <a:t>3 </a:t>
            </a:r>
            <a:r>
              <a:rPr lang="en-IN" dirty="0"/>
              <a:t>× House age₃ 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16E8E246-D013-3589-D239-B1A8D31332A4}"/>
              </a:ext>
            </a:extLst>
          </p:cNvPr>
          <p:cNvSpPr/>
          <p:nvPr/>
        </p:nvSpPr>
        <p:spPr>
          <a:xfrm>
            <a:off x="0" y="6367047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800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988381-6FD8-A79E-5EEA-FD94197E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38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Standardization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522F7-6CE5-C415-DD03-6077257B5106}"/>
              </a:ext>
            </a:extLst>
          </p:cNvPr>
          <p:cNvSpPr txBox="1"/>
          <p:nvPr/>
        </p:nvSpPr>
        <p:spPr>
          <a:xfrm>
            <a:off x="855182" y="1232621"/>
            <a:ext cx="77599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>
                <a:solidFill>
                  <a:schemeClr val="accent2"/>
                </a:solidFill>
              </a:rPr>
              <a:t>Step 1 : </a:t>
            </a:r>
            <a:r>
              <a:rPr lang="en-IN" dirty="0">
                <a:solidFill>
                  <a:schemeClr val="accent2"/>
                </a:solidFill>
                <a:latin typeface="quote-cjk-patch"/>
              </a:rPr>
              <a:t>Standardize the data</a:t>
            </a:r>
            <a:endParaRPr lang="en-IN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IN" dirty="0"/>
              <a:t>Fair Comparisons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IN" dirty="0"/>
              <a:t>Remove the influence of high values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698F10-F666-A260-33FC-302D3B4CDDFE}"/>
              </a:ext>
            </a:extLst>
          </p:cNvPr>
          <p:cNvSpPr/>
          <p:nvPr/>
        </p:nvSpPr>
        <p:spPr>
          <a:xfrm>
            <a:off x="855182" y="2558116"/>
            <a:ext cx="7759968" cy="1374517"/>
          </a:xfrm>
          <a:prstGeom prst="roundRect">
            <a:avLst>
              <a:gd name="adj" fmla="val 910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b="1" dirty="0">
                <a:solidFill>
                  <a:srgbClr val="0F1115"/>
                </a:solidFill>
                <a:latin typeface="quote-cjk-patch"/>
              </a:rPr>
              <a:t>Standardized Values:</a:t>
            </a:r>
            <a:r>
              <a:rPr lang="en-US" b="1" dirty="0"/>
              <a:t>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US" b="1" dirty="0" err="1"/>
              <a:t>MedInc</a:t>
            </a:r>
            <a:r>
              <a:rPr lang="en-US" b="1" dirty="0"/>
              <a:t>		:</a:t>
            </a:r>
            <a:r>
              <a:rPr lang="en-US" dirty="0"/>
              <a:t> 	mean = 3.8707, std = 1.8998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US" b="1" dirty="0" err="1"/>
              <a:t>HouseAge</a:t>
            </a:r>
            <a:r>
              <a:rPr lang="en-US" b="1" dirty="0"/>
              <a:t>	:</a:t>
            </a:r>
            <a:r>
              <a:rPr lang="en-US" dirty="0"/>
              <a:t> 	mean = 28.6395, std = 12.5856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US" b="1" dirty="0" err="1"/>
              <a:t>AveRooms</a:t>
            </a:r>
            <a:r>
              <a:rPr lang="en-US" b="1" dirty="0"/>
              <a:t>	:</a:t>
            </a:r>
            <a:r>
              <a:rPr lang="en-US" dirty="0"/>
              <a:t> 	mean = 5.4290, std = 2.4742</a:t>
            </a:r>
            <a:endParaRPr lang="en-IN" b="1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5A6D1E-7924-E563-4A20-4EFAEE48BDE1}"/>
              </a:ext>
            </a:extLst>
          </p:cNvPr>
          <p:cNvSpPr txBox="1"/>
          <p:nvPr/>
        </p:nvSpPr>
        <p:spPr>
          <a:xfrm>
            <a:off x="855182" y="4352878"/>
            <a:ext cx="77599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To standardize: </a:t>
            </a:r>
            <a:r>
              <a:rPr lang="en-IN" b="0" i="0" dirty="0">
                <a:solidFill>
                  <a:srgbClr val="0F1115"/>
                </a:solidFill>
                <a:effectLst/>
                <a:latin typeface="Menlo"/>
              </a:rPr>
              <a:t>z = (x - mean) / std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br>
              <a:rPr lang="en-IN" dirty="0">
                <a:solidFill>
                  <a:srgbClr val="0F1115"/>
                </a:solidFill>
                <a:latin typeface="Menlo"/>
              </a:rPr>
            </a:br>
            <a:r>
              <a:rPr lang="en-IN" dirty="0" err="1">
                <a:solidFill>
                  <a:srgbClr val="0F1115"/>
                </a:solidFill>
                <a:latin typeface="Menlo"/>
              </a:rPr>
              <a:t>MedInc_std</a:t>
            </a:r>
            <a:r>
              <a:rPr lang="en-IN" dirty="0">
                <a:solidFill>
                  <a:srgbClr val="0F1115"/>
                </a:solidFill>
                <a:latin typeface="Menlo"/>
              </a:rPr>
              <a:t> = (8.3252 - 3.8707) / 1.8998 = 2.345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 err="1">
                <a:solidFill>
                  <a:srgbClr val="0F1115"/>
                </a:solidFill>
                <a:latin typeface="Menlo"/>
              </a:rPr>
              <a:t>HouseAge_std</a:t>
            </a:r>
            <a:r>
              <a:rPr lang="en-IN" dirty="0">
                <a:solidFill>
                  <a:srgbClr val="0F1115"/>
                </a:solidFill>
                <a:latin typeface="Menlo"/>
              </a:rPr>
              <a:t> = (41.0 - 28.6395) / 12.5856 = 0.982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 err="1">
                <a:solidFill>
                  <a:srgbClr val="0F1115"/>
                </a:solidFill>
                <a:latin typeface="Menlo"/>
              </a:rPr>
              <a:t>AveRooms_std</a:t>
            </a:r>
            <a:r>
              <a:rPr lang="en-IN" dirty="0">
                <a:solidFill>
                  <a:srgbClr val="0F1115"/>
                </a:solidFill>
                <a:latin typeface="Menlo"/>
              </a:rPr>
              <a:t> = (6.9841 - 5.4290) / 2.4742 = 0.628</a:t>
            </a:r>
            <a:endParaRPr lang="en-IN" dirty="0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71478CA6-1360-B272-63D7-FC4D0B8177BF}"/>
              </a:ext>
            </a:extLst>
          </p:cNvPr>
          <p:cNvSpPr/>
          <p:nvPr/>
        </p:nvSpPr>
        <p:spPr>
          <a:xfrm>
            <a:off x="0" y="6367047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60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A97669-6870-8995-0044-96F19AA81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38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Standardization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Double Bracket 4">
            <a:extLst>
              <a:ext uri="{FF2B5EF4-FFF2-40B4-BE49-F238E27FC236}">
                <a16:creationId xmlns:a16="http://schemas.microsoft.com/office/drawing/2014/main" id="{06DB93FF-9789-C65D-6765-1B9BF8076401}"/>
              </a:ext>
            </a:extLst>
          </p:cNvPr>
          <p:cNvSpPr/>
          <p:nvPr/>
        </p:nvSpPr>
        <p:spPr>
          <a:xfrm>
            <a:off x="4476461" y="4152759"/>
            <a:ext cx="1528384" cy="119738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04040"/>
                </a:solidFill>
              </a:defRPr>
            </a:pP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927F95-4819-DFB4-1BD2-B9740379759C}"/>
              </a:ext>
            </a:extLst>
          </p:cNvPr>
          <p:cNvSpPr txBox="1"/>
          <p:nvPr/>
        </p:nvSpPr>
        <p:spPr>
          <a:xfrm>
            <a:off x="4065971" y="4564189"/>
            <a:ext cx="31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X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AC618-B1DD-233C-99ED-5D1D348A5D5F}"/>
              </a:ext>
            </a:extLst>
          </p:cNvPr>
          <p:cNvSpPr txBox="1"/>
          <p:nvPr/>
        </p:nvSpPr>
        <p:spPr>
          <a:xfrm>
            <a:off x="6543321" y="4476928"/>
            <a:ext cx="31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=</a:t>
            </a:r>
            <a:endParaRPr lang="en-IN" dirty="0"/>
          </a:p>
        </p:txBody>
      </p:sp>
      <p:sp>
        <p:nvSpPr>
          <p:cNvPr id="8" name="Double Bracket 7">
            <a:extLst>
              <a:ext uri="{FF2B5EF4-FFF2-40B4-BE49-F238E27FC236}">
                <a16:creationId xmlns:a16="http://schemas.microsoft.com/office/drawing/2014/main" id="{9245CDFC-2671-3633-1B9E-B15144BB0AF0}"/>
              </a:ext>
            </a:extLst>
          </p:cNvPr>
          <p:cNvSpPr/>
          <p:nvPr/>
        </p:nvSpPr>
        <p:spPr>
          <a:xfrm>
            <a:off x="7093032" y="4039803"/>
            <a:ext cx="1528384" cy="119738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04040"/>
                </a:solidFill>
              </a:defRPr>
            </a:pPr>
            <a:endParaRPr lang="en-IN"/>
          </a:p>
        </p:txBody>
      </p:sp>
      <p:sp>
        <p:nvSpPr>
          <p:cNvPr id="9" name="Double Bracket 8">
            <a:extLst>
              <a:ext uri="{FF2B5EF4-FFF2-40B4-BE49-F238E27FC236}">
                <a16:creationId xmlns:a16="http://schemas.microsoft.com/office/drawing/2014/main" id="{77843016-3482-B250-3D0E-AD3F95FB4E23}"/>
              </a:ext>
            </a:extLst>
          </p:cNvPr>
          <p:cNvSpPr/>
          <p:nvPr/>
        </p:nvSpPr>
        <p:spPr>
          <a:xfrm>
            <a:off x="435354" y="4115485"/>
            <a:ext cx="3468858" cy="119738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04040"/>
                </a:solidFill>
              </a:defRPr>
            </a:pP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7A460-5816-81C4-EBBA-25D3E6B2C371}"/>
              </a:ext>
            </a:extLst>
          </p:cNvPr>
          <p:cNvSpPr txBox="1"/>
          <p:nvPr/>
        </p:nvSpPr>
        <p:spPr>
          <a:xfrm>
            <a:off x="570832" y="4137237"/>
            <a:ext cx="35767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>
              <a:defRPr sz="1800">
                <a:solidFill>
                  <a:srgbClr val="404040"/>
                </a:solidFill>
              </a:defRPr>
            </a:pPr>
            <a:r>
              <a:rPr lang="en-IN" dirty="0"/>
              <a:t>1 	2.345	0.628 	0.982</a:t>
            </a:r>
          </a:p>
          <a:p>
            <a:pPr fontAlgn="ctr">
              <a:defRPr sz="1800">
                <a:solidFill>
                  <a:srgbClr val="404040"/>
                </a:solidFill>
              </a:defRPr>
            </a:pPr>
            <a:r>
              <a:rPr lang="en-IN" dirty="0"/>
              <a:t>1	2.334     	-0.481  	-0.607</a:t>
            </a:r>
          </a:p>
          <a:p>
            <a:pPr fontAlgn="ctr">
              <a:defRPr sz="1800">
                <a:solidFill>
                  <a:srgbClr val="404040"/>
                </a:solidFill>
              </a:defRPr>
            </a:pPr>
            <a:r>
              <a:rPr lang="en-IN" dirty="0"/>
              <a:t>1	1.784       1.155    	1.855</a:t>
            </a:r>
          </a:p>
          <a:p>
            <a:pPr fontAlgn="ctr"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1	0.933       0.157    	1.855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BC85F4-DB95-8F0C-C5B0-4F95AF188344}"/>
              </a:ext>
            </a:extLst>
          </p:cNvPr>
          <p:cNvSpPr txBox="1"/>
          <p:nvPr/>
        </p:nvSpPr>
        <p:spPr>
          <a:xfrm>
            <a:off x="4981719" y="4148691"/>
            <a:ext cx="60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b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W1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W2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W3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8CC794-D61A-5FD9-F1E3-5C58012B947A}"/>
              </a:ext>
            </a:extLst>
          </p:cNvPr>
          <p:cNvSpPr txBox="1"/>
          <p:nvPr/>
        </p:nvSpPr>
        <p:spPr>
          <a:xfrm>
            <a:off x="7422395" y="4039803"/>
            <a:ext cx="1050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452600</a:t>
            </a:r>
            <a:endParaRPr lang="en-US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358500</a:t>
            </a:r>
            <a:endParaRPr lang="en-US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352100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341300</a:t>
            </a:r>
          </a:p>
        </p:txBody>
      </p:sp>
      <p:sp>
        <p:nvSpPr>
          <p:cNvPr id="13" name="Double Bracket 12">
            <a:extLst>
              <a:ext uri="{FF2B5EF4-FFF2-40B4-BE49-F238E27FC236}">
                <a16:creationId xmlns:a16="http://schemas.microsoft.com/office/drawing/2014/main" id="{AEEBD5B9-3543-2E9F-7124-0694DA55D23E}"/>
              </a:ext>
            </a:extLst>
          </p:cNvPr>
          <p:cNvSpPr/>
          <p:nvPr/>
        </p:nvSpPr>
        <p:spPr>
          <a:xfrm>
            <a:off x="4177869" y="1401719"/>
            <a:ext cx="1528384" cy="119738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04040"/>
                </a:solidFill>
              </a:defRPr>
            </a:pPr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CB7D5E-3D5E-EBB6-C5AC-76FADD54A870}"/>
              </a:ext>
            </a:extLst>
          </p:cNvPr>
          <p:cNvSpPr txBox="1"/>
          <p:nvPr/>
        </p:nvSpPr>
        <p:spPr>
          <a:xfrm>
            <a:off x="3609005" y="1918058"/>
            <a:ext cx="31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X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DA6C46-72A0-51D3-AA8A-8345083C1572}"/>
              </a:ext>
            </a:extLst>
          </p:cNvPr>
          <p:cNvSpPr txBox="1"/>
          <p:nvPr/>
        </p:nvSpPr>
        <p:spPr>
          <a:xfrm>
            <a:off x="6564301" y="1861857"/>
            <a:ext cx="31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=</a:t>
            </a:r>
            <a:endParaRPr lang="en-IN" dirty="0"/>
          </a:p>
        </p:txBody>
      </p:sp>
      <p:sp>
        <p:nvSpPr>
          <p:cNvPr id="16" name="Double Bracket 15">
            <a:extLst>
              <a:ext uri="{FF2B5EF4-FFF2-40B4-BE49-F238E27FC236}">
                <a16:creationId xmlns:a16="http://schemas.microsoft.com/office/drawing/2014/main" id="{35395625-2AB3-22BF-FABF-DE0DD53FD042}"/>
              </a:ext>
            </a:extLst>
          </p:cNvPr>
          <p:cNvSpPr/>
          <p:nvPr/>
        </p:nvSpPr>
        <p:spPr>
          <a:xfrm>
            <a:off x="7114012" y="1401719"/>
            <a:ext cx="1528384" cy="119738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04040"/>
                </a:solidFill>
              </a:defRPr>
            </a:pPr>
            <a:endParaRPr lang="en-IN"/>
          </a:p>
        </p:txBody>
      </p:sp>
      <p:sp>
        <p:nvSpPr>
          <p:cNvPr id="17" name="Double Bracket 16">
            <a:extLst>
              <a:ext uri="{FF2B5EF4-FFF2-40B4-BE49-F238E27FC236}">
                <a16:creationId xmlns:a16="http://schemas.microsoft.com/office/drawing/2014/main" id="{AA1E8068-18C8-48B0-20D4-CD6DB55C2520}"/>
              </a:ext>
            </a:extLst>
          </p:cNvPr>
          <p:cNvSpPr/>
          <p:nvPr/>
        </p:nvSpPr>
        <p:spPr>
          <a:xfrm>
            <a:off x="454148" y="1447829"/>
            <a:ext cx="3002671" cy="1197388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04040"/>
                </a:solidFill>
              </a:defRPr>
            </a:pPr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AB7F3B-0253-B651-9654-CB4721B178F8}"/>
              </a:ext>
            </a:extLst>
          </p:cNvPr>
          <p:cNvSpPr txBox="1"/>
          <p:nvPr/>
        </p:nvSpPr>
        <p:spPr>
          <a:xfrm>
            <a:off x="577415" y="1437319"/>
            <a:ext cx="27324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>
              <a:defRPr sz="1800">
                <a:solidFill>
                  <a:srgbClr val="404040"/>
                </a:solidFill>
              </a:defRPr>
            </a:pPr>
            <a:r>
              <a:rPr lang="en-IN" dirty="0"/>
              <a:t>1 	8.3252	6.9841  41</a:t>
            </a:r>
          </a:p>
          <a:p>
            <a:pPr fontAlgn="ctr">
              <a:defRPr sz="1800">
                <a:solidFill>
                  <a:srgbClr val="404040"/>
                </a:solidFill>
              </a:defRPr>
            </a:pPr>
            <a:r>
              <a:rPr lang="en-IN" dirty="0"/>
              <a:t>1	8.3014	6.2381  21</a:t>
            </a:r>
          </a:p>
          <a:p>
            <a:pPr fontAlgn="ctr">
              <a:defRPr sz="1800">
                <a:solidFill>
                  <a:srgbClr val="404040"/>
                </a:solidFill>
              </a:defRPr>
            </a:pPr>
            <a:r>
              <a:rPr lang="en-IN" dirty="0"/>
              <a:t>1	7.2574	8.2881  52</a:t>
            </a:r>
          </a:p>
          <a:p>
            <a:pPr fontAlgn="ctr"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1	5.6431	5.8174  52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F7AC3F-E1E6-A32A-864D-AC875C6BE149}"/>
              </a:ext>
            </a:extLst>
          </p:cNvPr>
          <p:cNvSpPr txBox="1"/>
          <p:nvPr/>
        </p:nvSpPr>
        <p:spPr>
          <a:xfrm>
            <a:off x="7439613" y="1386745"/>
            <a:ext cx="1050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452600</a:t>
            </a:r>
            <a:endParaRPr lang="en-US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358500</a:t>
            </a:r>
            <a:endParaRPr lang="en-US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352100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latin typeface="quote-cjk-patch"/>
              </a:rPr>
              <a:t>341300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2AFF0F-84B2-036E-14E7-2A9BF139920E}"/>
              </a:ext>
            </a:extLst>
          </p:cNvPr>
          <p:cNvSpPr txBox="1"/>
          <p:nvPr/>
        </p:nvSpPr>
        <p:spPr>
          <a:xfrm>
            <a:off x="4631053" y="1426762"/>
            <a:ext cx="60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b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US" dirty="0"/>
              <a:t>W1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W2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W3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EBB946-E800-9CF3-25DC-7D3DD8D7B331}"/>
              </a:ext>
            </a:extLst>
          </p:cNvPr>
          <p:cNvSpPr txBox="1"/>
          <p:nvPr/>
        </p:nvSpPr>
        <p:spPr>
          <a:xfrm>
            <a:off x="440030" y="314318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Bias   </a:t>
            </a:r>
            <a:r>
              <a:rPr lang="en-IN" dirty="0" err="1"/>
              <a:t>Inc_std</a:t>
            </a:r>
            <a:r>
              <a:rPr lang="en-IN" dirty="0"/>
              <a:t>   </a:t>
            </a:r>
            <a:r>
              <a:rPr lang="en-IN" dirty="0" err="1"/>
              <a:t>Rooms_std</a:t>
            </a:r>
            <a:r>
              <a:rPr lang="en-IN" dirty="0"/>
              <a:t>   </a:t>
            </a:r>
            <a:r>
              <a:rPr lang="en-IN" dirty="0" err="1"/>
              <a:t>Age_std</a:t>
            </a:r>
            <a:endParaRPr lang="en-IN" dirty="0"/>
          </a:p>
        </p:txBody>
      </p:sp>
      <p:sp>
        <p:nvSpPr>
          <p:cNvPr id="22" name="Arrow: Pentagon 21">
            <a:extLst>
              <a:ext uri="{FF2B5EF4-FFF2-40B4-BE49-F238E27FC236}">
                <a16:creationId xmlns:a16="http://schemas.microsoft.com/office/drawing/2014/main" id="{8D382354-F223-F982-C7CD-245CEB9B1417}"/>
              </a:ext>
            </a:extLst>
          </p:cNvPr>
          <p:cNvSpPr/>
          <p:nvPr/>
        </p:nvSpPr>
        <p:spPr>
          <a:xfrm>
            <a:off x="0" y="6367047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1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Pentagon 3">
            <a:extLst>
              <a:ext uri="{FF2B5EF4-FFF2-40B4-BE49-F238E27FC236}">
                <a16:creationId xmlns:a16="http://schemas.microsoft.com/office/drawing/2014/main" id="{07324904-674C-FEA0-D7A5-ADE2E518C4C5}"/>
              </a:ext>
            </a:extLst>
          </p:cNvPr>
          <p:cNvSpPr/>
          <p:nvPr/>
        </p:nvSpPr>
        <p:spPr>
          <a:xfrm>
            <a:off x="0" y="6367047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14B596B-3DBC-64D4-0232-7FF46C30E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38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The Normal Equation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9DE26F-9EAD-990A-3299-2BE0E00C163F}"/>
              </a:ext>
            </a:extLst>
          </p:cNvPr>
          <p:cNvSpPr txBox="1"/>
          <p:nvPr/>
        </p:nvSpPr>
        <p:spPr>
          <a:xfrm>
            <a:off x="637953" y="766543"/>
            <a:ext cx="440761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>
              <a:defRPr sz="2000" b="1">
                <a:solidFill>
                  <a:srgbClr val="203764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Step 1: Feature Matrix (X)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rPr dirty="0"/>
              <a:t>Organize standardized features + bias</a:t>
            </a:r>
          </a:p>
          <a:p>
            <a:pPr>
              <a:defRPr sz="2000" b="1">
                <a:solidFill>
                  <a:srgbClr val="203764"/>
                </a:solidFill>
              </a:defRPr>
            </a:pPr>
            <a:endParaRPr lang="en-US" dirty="0"/>
          </a:p>
          <a:p>
            <a:pPr>
              <a:defRPr sz="2000" b="1">
                <a:solidFill>
                  <a:srgbClr val="203764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Step 2: Transpose (Xᵀ)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rPr dirty="0"/>
              <a:t>Swap rows and columns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28B3EE-0367-C607-8440-8D64F8F21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566223"/>
              </p:ext>
            </p:extLst>
          </p:nvPr>
        </p:nvGraphicFramePr>
        <p:xfrm>
          <a:off x="396118" y="2696888"/>
          <a:ext cx="4216228" cy="2253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2141">
                  <a:extLst>
                    <a:ext uri="{9D8B030D-6E8A-4147-A177-3AD203B41FA5}">
                      <a16:colId xmlns:a16="http://schemas.microsoft.com/office/drawing/2014/main" val="3902828152"/>
                    </a:ext>
                  </a:extLst>
                </a:gridCol>
                <a:gridCol w="782141">
                  <a:extLst>
                    <a:ext uri="{9D8B030D-6E8A-4147-A177-3AD203B41FA5}">
                      <a16:colId xmlns:a16="http://schemas.microsoft.com/office/drawing/2014/main" val="2882441137"/>
                    </a:ext>
                  </a:extLst>
                </a:gridCol>
                <a:gridCol w="953234">
                  <a:extLst>
                    <a:ext uri="{9D8B030D-6E8A-4147-A177-3AD203B41FA5}">
                      <a16:colId xmlns:a16="http://schemas.microsoft.com/office/drawing/2014/main" val="3328353130"/>
                    </a:ext>
                  </a:extLst>
                </a:gridCol>
                <a:gridCol w="916571">
                  <a:extLst>
                    <a:ext uri="{9D8B030D-6E8A-4147-A177-3AD203B41FA5}">
                      <a16:colId xmlns:a16="http://schemas.microsoft.com/office/drawing/2014/main" val="3238996772"/>
                    </a:ext>
                  </a:extLst>
                </a:gridCol>
                <a:gridCol w="782141">
                  <a:extLst>
                    <a:ext uri="{9D8B030D-6E8A-4147-A177-3AD203B41FA5}">
                      <a16:colId xmlns:a16="http://schemas.microsoft.com/office/drawing/2014/main" val="3697643904"/>
                    </a:ext>
                  </a:extLst>
                </a:gridCol>
              </a:tblGrid>
              <a:tr h="331044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Standardised matrix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78884"/>
                  </a:ext>
                </a:extLst>
              </a:tr>
              <a:tr h="59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Bias 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 </a:t>
                      </a:r>
                      <a:r>
                        <a:rPr lang="en-IN" sz="1600" u="none" strike="noStrike" dirty="0" err="1">
                          <a:effectLst/>
                        </a:rPr>
                        <a:t>Inc_std</a:t>
                      </a:r>
                      <a:r>
                        <a:rPr lang="en-IN" sz="1600" u="none" strike="noStrike" dirty="0">
                          <a:effectLst/>
                        </a:rPr>
                        <a:t>     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Rooms_std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 Age_std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536053"/>
                  </a:ext>
                </a:extLst>
              </a:tr>
              <a:tr h="3310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House 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2.345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0.628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0.982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89475564"/>
                  </a:ext>
                </a:extLst>
              </a:tr>
              <a:tr h="3310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House 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2.334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-0.481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-0.607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2251252"/>
                  </a:ext>
                </a:extLst>
              </a:tr>
              <a:tr h="3310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House 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1.784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1.155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1.855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87111058"/>
                  </a:ext>
                </a:extLst>
              </a:tr>
              <a:tr h="3310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House 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0.933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0.157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1.855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5527485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FBA5BC-3C8D-6D0F-A926-7B89F508B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883836"/>
              </p:ext>
            </p:extLst>
          </p:nvPr>
        </p:nvGraphicFramePr>
        <p:xfrm>
          <a:off x="4700028" y="2659310"/>
          <a:ext cx="4216227" cy="2291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5339">
                  <a:extLst>
                    <a:ext uri="{9D8B030D-6E8A-4147-A177-3AD203B41FA5}">
                      <a16:colId xmlns:a16="http://schemas.microsoft.com/office/drawing/2014/main" val="2142300434"/>
                    </a:ext>
                  </a:extLst>
                </a:gridCol>
                <a:gridCol w="815222">
                  <a:extLst>
                    <a:ext uri="{9D8B030D-6E8A-4147-A177-3AD203B41FA5}">
                      <a16:colId xmlns:a16="http://schemas.microsoft.com/office/drawing/2014/main" val="3871015604"/>
                    </a:ext>
                  </a:extLst>
                </a:gridCol>
                <a:gridCol w="815222">
                  <a:extLst>
                    <a:ext uri="{9D8B030D-6E8A-4147-A177-3AD203B41FA5}">
                      <a16:colId xmlns:a16="http://schemas.microsoft.com/office/drawing/2014/main" val="3075809211"/>
                    </a:ext>
                  </a:extLst>
                </a:gridCol>
                <a:gridCol w="815222">
                  <a:extLst>
                    <a:ext uri="{9D8B030D-6E8A-4147-A177-3AD203B41FA5}">
                      <a16:colId xmlns:a16="http://schemas.microsoft.com/office/drawing/2014/main" val="3794418939"/>
                    </a:ext>
                  </a:extLst>
                </a:gridCol>
                <a:gridCol w="815222">
                  <a:extLst>
                    <a:ext uri="{9D8B030D-6E8A-4147-A177-3AD203B41FA5}">
                      <a16:colId xmlns:a16="http://schemas.microsoft.com/office/drawing/2014/main" val="1493746866"/>
                    </a:ext>
                  </a:extLst>
                </a:gridCol>
              </a:tblGrid>
              <a:tr h="381849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Transposed Matrix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303916"/>
                  </a:ext>
                </a:extLst>
              </a:tr>
              <a:tr h="3818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House 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House 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House 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House 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5667249"/>
                  </a:ext>
                </a:extLst>
              </a:tr>
              <a:tr h="3818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Bias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41559175"/>
                  </a:ext>
                </a:extLst>
              </a:tr>
              <a:tr h="3818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 Inc_std  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2.345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2.334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1.784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0.933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2908615"/>
                  </a:ext>
                </a:extLst>
              </a:tr>
              <a:tr h="3818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Rooms_std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0.628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-0.481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1.155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0.157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5613715"/>
                  </a:ext>
                </a:extLst>
              </a:tr>
              <a:tr h="3818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 Age_std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0.982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-0.607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1.855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1.855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835408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6710DA4-0769-CA08-806A-3FBB80B9B8E4}"/>
              </a:ext>
            </a:extLst>
          </p:cNvPr>
          <p:cNvSpPr txBox="1"/>
          <p:nvPr/>
        </p:nvSpPr>
        <p:spPr>
          <a:xfrm>
            <a:off x="866480" y="5283295"/>
            <a:ext cx="594166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Xᵀ = </a:t>
            </a:r>
            <a:r>
              <a:rPr lang="en-IN" dirty="0"/>
              <a:t>	[1.000, 1.000, 1.000, 1.000]      # Bias column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    	[2.345, 2.334, 1.784, 0.933]      # </a:t>
            </a:r>
            <a:r>
              <a:rPr lang="en-IN" dirty="0" err="1"/>
              <a:t>MedInc_std</a:t>
            </a:r>
            <a:endParaRPr lang="en-IN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	[0.628,-0.481, 1.155, 0.157]      # </a:t>
            </a:r>
            <a:r>
              <a:rPr lang="en-IN" dirty="0" err="1"/>
              <a:t>AveRooms_std</a:t>
            </a:r>
            <a:endParaRPr lang="en-IN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     	[0.982,-0.607, 1.855, 1.855]      # </a:t>
            </a:r>
            <a:r>
              <a:rPr lang="en-IN" dirty="0" err="1"/>
              <a:t>HouseAge_std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8817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6BC6FD8-7B6C-888A-362D-D0C0F8076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38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The Normal Equation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A19F8096-E534-9AFD-BE0D-927C5684B42C}"/>
              </a:ext>
            </a:extLst>
          </p:cNvPr>
          <p:cNvSpPr/>
          <p:nvPr/>
        </p:nvSpPr>
        <p:spPr>
          <a:xfrm>
            <a:off x="0" y="6367047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80A8D-C2A0-44A5-C28A-4CB19977DCC6}"/>
              </a:ext>
            </a:extLst>
          </p:cNvPr>
          <p:cNvSpPr txBox="1"/>
          <p:nvPr/>
        </p:nvSpPr>
        <p:spPr>
          <a:xfrm>
            <a:off x="701749" y="1967242"/>
            <a:ext cx="54926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XᵀX = Xᵀ × X =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[4.000,  7.396,  1.459,  4.085]  # Bias row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[7.396, 16.815,  2.646,  6.936]  # </a:t>
            </a:r>
            <a:r>
              <a:rPr lang="en-IN" dirty="0" err="1"/>
              <a:t>MedInc</a:t>
            </a:r>
            <a:r>
              <a:rPr lang="en-IN" dirty="0"/>
              <a:t> row 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[1.459,  2.646,  2.463,  2.743]  # Rooms row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[4.085,  6.936,  2.743,  8.408]  # Age row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69F0C9-324D-4664-344D-9A313B7E9F8A}"/>
              </a:ext>
            </a:extLst>
          </p:cNvPr>
          <p:cNvSpPr txBox="1"/>
          <p:nvPr/>
        </p:nvSpPr>
        <p:spPr>
          <a:xfrm>
            <a:off x="701749" y="123821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03764"/>
                </a:solidFill>
              </a:defRPr>
            </a:pPr>
            <a:r>
              <a:rPr lang="en-US" dirty="0">
                <a:solidFill>
                  <a:schemeClr val="accent2"/>
                </a:solidFill>
              </a:rPr>
              <a:t>Step 3: Multiply (XᵀX)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rPr lang="en-US" dirty="0"/>
              <a:t>Capture feature relationships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5C83FB-6204-C628-1F8D-51583CA01C83}"/>
              </a:ext>
            </a:extLst>
          </p:cNvPr>
          <p:cNvSpPr txBox="1"/>
          <p:nvPr/>
        </p:nvSpPr>
        <p:spPr>
          <a:xfrm>
            <a:off x="701749" y="3780029"/>
            <a:ext cx="6569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03764"/>
                </a:solidFill>
              </a:defRPr>
            </a:pPr>
            <a:r>
              <a:rPr lang="en-US" dirty="0">
                <a:solidFill>
                  <a:schemeClr val="accent2"/>
                </a:solidFill>
              </a:rPr>
              <a:t>Step 4: Inverse (XᵀX)⁻¹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rPr lang="en-US" dirty="0"/>
              <a:t>Solve linear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F3614A-AFE3-7591-41D7-A8B4CD2C2D70}"/>
              </a:ext>
            </a:extLst>
          </p:cNvPr>
          <p:cNvSpPr txBox="1"/>
          <p:nvPr/>
        </p:nvSpPr>
        <p:spPr>
          <a:xfrm>
            <a:off x="701749" y="4508061"/>
            <a:ext cx="47035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(XᵀX)⁻¹ =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[ 0.902,-0.461, 0.052,-0.336]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[-0.461, 0.298,-0.099, 0.149]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[ 0.052,-0.099, 0.615,-0.142]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[-0.336, 0.149,-0.142, 0.333]</a:t>
            </a:r>
          </a:p>
        </p:txBody>
      </p:sp>
    </p:spTree>
    <p:extLst>
      <p:ext uri="{BB962C8B-B14F-4D97-AF65-F5344CB8AC3E}">
        <p14:creationId xmlns:p14="http://schemas.microsoft.com/office/powerpoint/2010/main" val="2684757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CCFCEB-C218-F760-6139-C0BD1F537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38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The Normal Equation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37F63D86-1CCE-8920-5461-CE5759DA9D6D}"/>
              </a:ext>
            </a:extLst>
          </p:cNvPr>
          <p:cNvSpPr/>
          <p:nvPr/>
        </p:nvSpPr>
        <p:spPr>
          <a:xfrm>
            <a:off x="0" y="6367047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3CC9D-1540-9FE6-8F85-1DE11DAEB32D}"/>
              </a:ext>
            </a:extLst>
          </p:cNvPr>
          <p:cNvSpPr txBox="1"/>
          <p:nvPr/>
        </p:nvSpPr>
        <p:spPr>
          <a:xfrm>
            <a:off x="557414" y="1362004"/>
            <a:ext cx="91189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 err="1"/>
              <a:t>Xᵀy</a:t>
            </a:r>
            <a:r>
              <a:rPr lang="en-IN" sz="2000" dirty="0"/>
              <a:t> = Xᵀ × y =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[1.000×4.526 + 1.000×3.585 + 1.000×3.521 + 1.000×3.413] = [15.045]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[2.345×4.526 + 2.334×3.585 + 1.784×3.521 + 0.933×3.413] = [27.546]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[0.628×4.526 + (-0.481)×3.585 + 1.155×3.521 + 0.157×3.413] = [ 4.822]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[0.982×4.526 + (-0.607)×3.585 + 1.855×3.521 + 1.855×3.413] = [12.874]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1663B-79AF-A1E5-B808-D48F516F301F}"/>
              </a:ext>
            </a:extLst>
          </p:cNvPr>
          <p:cNvSpPr txBox="1"/>
          <p:nvPr/>
        </p:nvSpPr>
        <p:spPr>
          <a:xfrm>
            <a:off x="544887" y="3276435"/>
            <a:ext cx="3240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203764"/>
                </a:solidFill>
              </a:defRPr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Step 5: Multiply (XᵀX)⁻¹ × </a:t>
            </a:r>
            <a:r>
              <a:rPr lang="en-US" dirty="0" err="1">
                <a:solidFill>
                  <a:schemeClr val="accent2"/>
                </a:solidFill>
              </a:rPr>
              <a:t>Xᵀy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5A8C2-F2CC-0654-B540-65FFBC33D0DB}"/>
              </a:ext>
            </a:extLst>
          </p:cNvPr>
          <p:cNvSpPr txBox="1"/>
          <p:nvPr/>
        </p:nvSpPr>
        <p:spPr>
          <a:xfrm>
            <a:off x="556973" y="3791845"/>
            <a:ext cx="86053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w = (XᵀX)⁻¹ × </a:t>
            </a:r>
            <a:r>
              <a:rPr lang="en-IN" sz="2000" dirty="0" err="1"/>
              <a:t>Xᵀy</a:t>
            </a:r>
            <a:r>
              <a:rPr lang="en-IN" sz="2000" dirty="0"/>
              <a:t> =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Row 1: 0.902×15.045 + (-0.461)×27.546 + 0.052×4.822 + (-0.336)×12.874 = 3.571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Row 2: (-0.461)×15.045 + 0.298×27.546 + (-0.099)×4.822 + 0.149×12.874 = 0.729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Row 3: 0.052×15.045 + (-0.099)×27.546 + 0.615×4.822 + (-0.142)×12.874 = -0.183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Row 4: (-0.336)×15.045 + 0.149×27.546 + (-0.142)×4.822 + 0.333×12.874 = 0.354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F05463-A935-4515-50A9-BE3810FAC320}"/>
              </a:ext>
            </a:extLst>
          </p:cNvPr>
          <p:cNvSpPr txBox="1"/>
          <p:nvPr/>
        </p:nvSpPr>
        <p:spPr>
          <a:xfrm>
            <a:off x="701460" y="5901234"/>
            <a:ext cx="5480137" cy="646331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endParaRPr lang="en-US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Final weights: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w = [3.571, 0.729, -0.183, 0.354]ᵀ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C2544D-F346-682D-18D4-BAF024E18A8B}"/>
              </a:ext>
            </a:extLst>
          </p:cNvPr>
          <p:cNvSpPr txBox="1"/>
          <p:nvPr/>
        </p:nvSpPr>
        <p:spPr>
          <a:xfrm>
            <a:off x="557414" y="997561"/>
            <a:ext cx="30257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03764"/>
                </a:solidFill>
              </a:defRPr>
            </a:pPr>
            <a:r>
              <a:rPr lang="en-IN" dirty="0">
                <a:solidFill>
                  <a:schemeClr val="accent2"/>
                </a:solidFill>
              </a:rPr>
              <a:t>Step 5: Multiply </a:t>
            </a:r>
            <a:r>
              <a:rPr lang="en-IN" dirty="0" err="1">
                <a:solidFill>
                  <a:schemeClr val="accent2"/>
                </a:solidFill>
              </a:rPr>
              <a:t>Xᵀy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FEA5C9-2561-C2D7-850D-B33580240064}"/>
              </a:ext>
            </a:extLst>
          </p:cNvPr>
          <p:cNvSpPr txBox="1"/>
          <p:nvPr/>
        </p:nvSpPr>
        <p:spPr>
          <a:xfrm>
            <a:off x="701460" y="5573478"/>
            <a:ext cx="2786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03764"/>
                </a:solidFill>
              </a:defRPr>
            </a:pPr>
            <a:r>
              <a:rPr lang="en-US" dirty="0">
                <a:solidFill>
                  <a:schemeClr val="accent2"/>
                </a:solidFill>
              </a:rPr>
              <a:t>Step 6: Final Weights (w)</a:t>
            </a:r>
          </a:p>
        </p:txBody>
      </p:sp>
    </p:spTree>
    <p:extLst>
      <p:ext uri="{BB962C8B-B14F-4D97-AF65-F5344CB8AC3E}">
        <p14:creationId xmlns:p14="http://schemas.microsoft.com/office/powerpoint/2010/main" val="4171650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D9C0F1-5B42-B462-F14B-7F950AB55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38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Predictions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033CAEA2-095C-7D32-8E59-34B0069D3E1F}"/>
              </a:ext>
            </a:extLst>
          </p:cNvPr>
          <p:cNvSpPr/>
          <p:nvPr/>
        </p:nvSpPr>
        <p:spPr>
          <a:xfrm>
            <a:off x="0" y="6367047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7F48E-5A93-3913-87CF-CEADC3D388DC}"/>
              </a:ext>
            </a:extLst>
          </p:cNvPr>
          <p:cNvSpPr txBox="1"/>
          <p:nvPr/>
        </p:nvSpPr>
        <p:spPr>
          <a:xfrm>
            <a:off x="865359" y="1309221"/>
            <a:ext cx="4572000" cy="387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  <a:defRPr sz="2000" b="1">
                <a:solidFill>
                  <a:srgbClr val="203764"/>
                </a:solidFill>
              </a:defRPr>
            </a:pPr>
            <a:r>
              <a:rPr lang="en-IN" sz="2000" b="1" dirty="0">
                <a:solidFill>
                  <a:schemeClr val="accent2"/>
                </a:solidFill>
              </a:rPr>
              <a:t>Step 6: Interpretation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095FD1-C91E-003F-0B50-AFD787E650BB}"/>
              </a:ext>
            </a:extLst>
          </p:cNvPr>
          <p:cNvSpPr txBox="1"/>
          <p:nvPr/>
        </p:nvSpPr>
        <p:spPr>
          <a:xfrm>
            <a:off x="826717" y="1727060"/>
            <a:ext cx="7732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Price = 3.571 + 0.729×MedInc_std - 0.183×AveRooms_std + 0.354×HouseAge_std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1C4D7-06D8-C458-C342-A23917DB7E65}"/>
              </a:ext>
            </a:extLst>
          </p:cNvPr>
          <p:cNvSpPr txBox="1"/>
          <p:nvPr/>
        </p:nvSpPr>
        <p:spPr>
          <a:xfrm>
            <a:off x="865359" y="2631310"/>
            <a:ext cx="6536028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  <a:defRPr sz="2000" b="1">
                <a:solidFill>
                  <a:srgbClr val="203764"/>
                </a:solidFill>
              </a:defRPr>
            </a:pPr>
            <a:r>
              <a:rPr lang="en-US" sz="2000" b="1" dirty="0">
                <a:solidFill>
                  <a:schemeClr val="accent2"/>
                </a:solidFill>
              </a:rPr>
              <a:t>Step 7: Make Predictions</a:t>
            </a:r>
            <a:br>
              <a:rPr lang="en-US" sz="2000" b="1" dirty="0">
                <a:solidFill>
                  <a:srgbClr val="203764"/>
                </a:solidFill>
              </a:rPr>
            </a:br>
            <a:r>
              <a:rPr lang="en-US" sz="2000" b="1" dirty="0">
                <a:solidFill>
                  <a:srgbClr val="203764"/>
                </a:solidFill>
              </a:rPr>
              <a:t>For House 0: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0C6AD8-E3A4-C724-6C13-1BD9D7A676C7}"/>
              </a:ext>
            </a:extLst>
          </p:cNvPr>
          <p:cNvSpPr txBox="1"/>
          <p:nvPr/>
        </p:nvSpPr>
        <p:spPr>
          <a:xfrm>
            <a:off x="878234" y="3402097"/>
            <a:ext cx="76448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ŷ₀ = 3.571 + 0.729×2.345 - 0.183×0.628 + 0.354×0.982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    = 3.571 + 1.710 - 0.115 + 0.348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dirty="0"/>
              <a:t>    = 5.514 ($551,400)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110FE9-EC30-7900-3FBE-E54A28CB2899}"/>
              </a:ext>
            </a:extLst>
          </p:cNvPr>
          <p:cNvSpPr/>
          <p:nvPr/>
        </p:nvSpPr>
        <p:spPr>
          <a:xfrm>
            <a:off x="914399" y="4619253"/>
            <a:ext cx="7644809" cy="1643324"/>
          </a:xfrm>
          <a:prstGeom prst="roundRect">
            <a:avLst>
              <a:gd name="adj" fmla="val 1102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rPr lang="en-IN" sz="2000" b="1" dirty="0"/>
              <a:t>Actual</a:t>
            </a:r>
            <a:r>
              <a:rPr lang="en-IN" sz="2000" b="1" dirty="0">
                <a:solidFill>
                  <a:srgbClr val="0F1115"/>
                </a:solidFill>
              </a:rPr>
              <a:t>	:</a:t>
            </a:r>
            <a:r>
              <a:rPr lang="en-IN" sz="2000" dirty="0">
                <a:solidFill>
                  <a:srgbClr val="0F1115"/>
                </a:solidFill>
              </a:rPr>
              <a:t> 	</a:t>
            </a:r>
            <a:r>
              <a:rPr lang="en-IN" dirty="0">
                <a:solidFill>
                  <a:srgbClr val="0F1115"/>
                </a:solidFill>
              </a:rPr>
              <a:t>4.526 ($452,600</a:t>
            </a:r>
            <a:r>
              <a:rPr lang="en-IN">
                <a:solidFill>
                  <a:srgbClr val="0F1115"/>
                </a:solidFill>
              </a:rPr>
              <a:t>) - from </a:t>
            </a:r>
            <a:r>
              <a:rPr lang="en-IN" dirty="0">
                <a:solidFill>
                  <a:srgbClr val="0F1115"/>
                </a:solidFill>
              </a:rPr>
              <a:t>initial dataset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br>
              <a:rPr lang="en-IN" sz="2000" dirty="0"/>
            </a:br>
            <a:r>
              <a:rPr lang="en-IN" sz="2000" b="1" dirty="0"/>
              <a:t>Error</a:t>
            </a:r>
            <a:r>
              <a:rPr lang="en-IN" sz="2000" b="1" dirty="0">
                <a:solidFill>
                  <a:srgbClr val="0F1115"/>
                </a:solidFill>
              </a:rPr>
              <a:t>	:</a:t>
            </a:r>
            <a:r>
              <a:rPr lang="en-IN" sz="2000" dirty="0">
                <a:solidFill>
                  <a:srgbClr val="0F1115"/>
                </a:solidFill>
              </a:rPr>
              <a:t> 	</a:t>
            </a:r>
            <a:r>
              <a:rPr lang="en-IN" dirty="0">
                <a:solidFill>
                  <a:srgbClr val="0F1115"/>
                </a:solidFill>
              </a:rPr>
              <a:t>+0.988 (+$98,800) - Overprediction!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1607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ACA06-9723-A10C-FC98-C290BDF9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B34800-079D-022C-2BD0-A7ACF954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38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</a:rPr>
              <a:t>Assignments</a:t>
            </a:r>
            <a:endParaRPr sz="3200" b="1" dirty="0">
              <a:solidFill>
                <a:schemeClr val="tx2"/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C93B2C5-54C1-94EF-7579-2B0959DA149E}"/>
              </a:ext>
            </a:extLst>
          </p:cNvPr>
          <p:cNvSpPr/>
          <p:nvPr/>
        </p:nvSpPr>
        <p:spPr>
          <a:xfrm>
            <a:off x="0" y="6367047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7AFCAC-E678-AB3E-C762-F4B2C80FDB87}"/>
              </a:ext>
            </a:extLst>
          </p:cNvPr>
          <p:cNvSpPr/>
          <p:nvPr/>
        </p:nvSpPr>
        <p:spPr>
          <a:xfrm>
            <a:off x="914399" y="1365662"/>
            <a:ext cx="7644809" cy="4896915"/>
          </a:xfrm>
          <a:prstGeom prst="roundRect">
            <a:avLst>
              <a:gd name="adj" fmla="val 1102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404040"/>
                </a:solidFill>
              </a:defRPr>
            </a:pPr>
            <a:endParaRPr lang="en-IN" dirty="0">
              <a:hlinkClick r:id="rId3"/>
            </a:endParaRPr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>
              <a:hlinkClick r:id="rId3"/>
            </a:endParaRPr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>
              <a:hlinkClick r:id="rId3"/>
            </a:endParaRPr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>
              <a:hlinkClick r:id="rId3"/>
            </a:endParaRP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>
                <a:hlinkClick r:id="rId3"/>
              </a:rPr>
              <a:t>https://github.com/sj8511/mathsforml/tree/main/linearalgebra</a:t>
            </a:r>
            <a:endParaRPr lang="en-IN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Linear_Algebra_assingmnets.pdf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Learning Objectives: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1. Vector Operations: Understand addition, subtraction, scalar multiplication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2. Dot Product: Measure similarity and alignment between vectors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3. Matrix Operations: Perform basic matrix multiplications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4. Standardization: Prepare data for machine learning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5. Linear Regression Setup: Formulate problems using matrices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6. Geometric Interpretation: Visualize vector operations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7. Model Interpretation: Understand weights and predictions 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lang="en-IN" dirty="0"/>
              <a:t>8. Error Metrics: Evaluate model performance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  <a:p>
            <a:pPr>
              <a:defRPr sz="1800">
                <a:solidFill>
                  <a:srgbClr val="404040"/>
                </a:solidFill>
              </a:defRP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0910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F9847-009F-A1BF-A807-59B4BFCE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5DBFF-AB88-74F6-FC56-48F2898BB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2353"/>
            <a:ext cx="8229600" cy="3498112"/>
          </a:xfrm>
        </p:spPr>
        <p:txBody>
          <a:bodyPr>
            <a:normAutofit/>
          </a:bodyPr>
          <a:lstStyle/>
          <a:p>
            <a:pPr marL="0" indent="0" algn="ctr">
              <a:spcBef>
                <a:spcPct val="0"/>
              </a:spcBef>
              <a:buNone/>
              <a:defRPr sz="3600" b="1">
                <a:solidFill>
                  <a:srgbClr val="203764"/>
                </a:solidFill>
              </a:defRPr>
            </a:pPr>
            <a:endParaRPr lang="en-US" sz="66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  <a:defRPr sz="3600" b="1">
                <a:solidFill>
                  <a:srgbClr val="203764"/>
                </a:solidFill>
              </a:defRPr>
            </a:pPr>
            <a:r>
              <a:rPr lang="en-US" sz="6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  <a:p>
            <a:pPr marL="0" indent="0" algn="ctr">
              <a:buNone/>
              <a:defRPr sz="1800">
                <a:solidFill>
                  <a:srgbClr val="404040"/>
                </a:solidFill>
              </a:defRPr>
            </a:pPr>
            <a:endParaRPr sz="6600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AB237315-27CA-65F7-63BC-339E0B7FE0CA}"/>
              </a:ext>
            </a:extLst>
          </p:cNvPr>
          <p:cNvSpPr/>
          <p:nvPr/>
        </p:nvSpPr>
        <p:spPr>
          <a:xfrm>
            <a:off x="0" y="6367047"/>
            <a:ext cx="914400" cy="524502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98C0FCA3-7537-03A8-2E3D-F6B15A90D8A9}"/>
              </a:ext>
            </a:extLst>
          </p:cNvPr>
          <p:cNvSpPr/>
          <p:nvPr/>
        </p:nvSpPr>
        <p:spPr>
          <a:xfrm rot="19936319">
            <a:off x="1654539" y="1789468"/>
            <a:ext cx="1777208" cy="4149847"/>
          </a:xfrm>
          <a:prstGeom prst="half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60477082-F477-D004-316E-BA28471CC7E4}"/>
              </a:ext>
            </a:extLst>
          </p:cNvPr>
          <p:cNvSpPr/>
          <p:nvPr/>
        </p:nvSpPr>
        <p:spPr>
          <a:xfrm rot="9195688">
            <a:off x="5535579" y="564908"/>
            <a:ext cx="1777208" cy="4200245"/>
          </a:xfrm>
          <a:prstGeom prst="half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FFABAA-2CEA-B72F-1FB7-EE616D7299E3}"/>
              </a:ext>
            </a:extLst>
          </p:cNvPr>
          <p:cNvCxnSpPr>
            <a:cxnSpLocks/>
          </p:cNvCxnSpPr>
          <p:nvPr/>
        </p:nvCxnSpPr>
        <p:spPr>
          <a:xfrm>
            <a:off x="637953" y="2498651"/>
            <a:ext cx="1905190" cy="367777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9B52F6-DA2B-E6DE-781F-A2659D0BA3B6}"/>
              </a:ext>
            </a:extLst>
          </p:cNvPr>
          <p:cNvCxnSpPr>
            <a:cxnSpLocks/>
          </p:cNvCxnSpPr>
          <p:nvPr/>
        </p:nvCxnSpPr>
        <p:spPr>
          <a:xfrm>
            <a:off x="6424183" y="279596"/>
            <a:ext cx="1928647" cy="377140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20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2321</TotalTime>
  <Words>2503</Words>
  <Application>Microsoft Office PowerPoint</Application>
  <PresentationFormat>On-screen Show (4:3)</PresentationFormat>
  <Paragraphs>462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 Narrow</vt:lpstr>
      <vt:lpstr>Arial</vt:lpstr>
      <vt:lpstr>Calibri</vt:lpstr>
      <vt:lpstr>Menlo</vt:lpstr>
      <vt:lpstr>quote-cjk-patch</vt:lpstr>
      <vt:lpstr>Office Theme</vt:lpstr>
      <vt:lpstr>Linear Algebra in Machine Learning</vt:lpstr>
      <vt:lpstr>Scalar, Vector, Matrix</vt:lpstr>
      <vt:lpstr>Coordinate System</vt:lpstr>
      <vt:lpstr>Vector addition</vt:lpstr>
      <vt:lpstr>Scalar Multiplication</vt:lpstr>
      <vt:lpstr>Dot Product</vt:lpstr>
      <vt:lpstr>Matrix Multiplication</vt:lpstr>
      <vt:lpstr>PowerPoint Presentation</vt:lpstr>
      <vt:lpstr>Feature selection</vt:lpstr>
      <vt:lpstr>Standardization</vt:lpstr>
      <vt:lpstr>Standardization</vt:lpstr>
      <vt:lpstr>The Normal Equation</vt:lpstr>
      <vt:lpstr>The Normal Equation</vt:lpstr>
      <vt:lpstr>The Normal Equation</vt:lpstr>
      <vt:lpstr>Predictions</vt:lpstr>
      <vt:lpstr>Assignments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satyajit joshi</cp:lastModifiedBy>
  <cp:revision>229</cp:revision>
  <dcterms:created xsi:type="dcterms:W3CDTF">2013-01-27T09:14:16Z</dcterms:created>
  <dcterms:modified xsi:type="dcterms:W3CDTF">2026-01-10T17:07:33Z</dcterms:modified>
  <cp:category/>
</cp:coreProperties>
</file>