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303" r:id="rId2"/>
    <p:sldId id="298" r:id="rId3"/>
    <p:sldId id="293" r:id="rId4"/>
    <p:sldId id="299" r:id="rId5"/>
    <p:sldId id="301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6"/>
    <a:srgbClr val="BAE18F"/>
    <a:srgbClr val="EDEBDF"/>
    <a:srgbClr val="F3F3F3"/>
    <a:srgbClr val="E1CCF0"/>
    <a:srgbClr val="EAE8DA"/>
    <a:srgbClr val="E6E3D2"/>
    <a:srgbClr val="FFFFCD"/>
    <a:srgbClr val="FFFF93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1314" autoAdjust="0"/>
  </p:normalViewPr>
  <p:slideViewPr>
    <p:cSldViewPr snapToGrid="0" snapToObjects="1">
      <p:cViewPr varScale="1">
        <p:scale>
          <a:sx n="45" d="100"/>
          <a:sy n="45" d="100"/>
        </p:scale>
        <p:origin x="1176" y="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B9A040-76D0-473E-9E74-221C88BE9F17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E7EBED-4FCC-49BE-BDE5-2E953154BC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358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5C356-0886-C059-BD57-CCB2195E0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20C7EA-A6FF-112E-78DD-E537D6F79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B50DB-FE0C-FABB-D6D0-631CF6FD7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Linear Algebra </a:t>
            </a:r>
            <a:r>
              <a:rPr lang="en-US" dirty="0"/>
              <a:t> helps machines represent data and find patterns.”</a:t>
            </a:r>
          </a:p>
          <a:p>
            <a:r>
              <a:rPr lang="en-US" b="1" dirty="0"/>
              <a:t>Calculus </a:t>
            </a:r>
            <a:r>
              <a:rPr lang="en-US" dirty="0"/>
              <a:t> helps models to learn and improve step by step.”</a:t>
            </a:r>
          </a:p>
          <a:p>
            <a:r>
              <a:rPr lang="en-US" b="1" dirty="0"/>
              <a:t>Probability </a:t>
            </a:r>
            <a:r>
              <a:rPr lang="en-US" dirty="0"/>
              <a:t> helps models to handle uncertainty and make predictions.”</a:t>
            </a:r>
          </a:p>
          <a:p>
            <a:r>
              <a:rPr lang="en-US" b="1" dirty="0"/>
              <a:t>Statistics </a:t>
            </a:r>
            <a:r>
              <a:rPr lang="en-US" dirty="0"/>
              <a:t>helps us to understand data and check if models work.</a:t>
            </a:r>
          </a:p>
          <a:p>
            <a:endParaRPr lang="en-US" dirty="0"/>
          </a:p>
          <a:p>
            <a:r>
              <a:rPr lang="en-US" dirty="0"/>
              <a:t>“If you really want to understand machine learning,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90D41-9D55-3273-850D-2FD8D5A4F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7EBED-4FCC-49BE-BDE5-2E953154BCE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0947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Hello everyone</a:t>
            </a:r>
          </a:p>
          <a:p>
            <a:endParaRPr lang="en-US" dirty="0"/>
          </a:p>
          <a:p>
            <a:r>
              <a:rPr lang="en-US" dirty="0"/>
              <a:t>“Do you know where the </a:t>
            </a:r>
            <a:r>
              <a:rPr lang="en-US" i="1" dirty="0"/>
              <a:t>real</a:t>
            </a:r>
            <a:r>
              <a:rPr lang="en-US" dirty="0"/>
              <a:t> intelligence in machine learning comes from?”</a:t>
            </a:r>
          </a:p>
          <a:p>
            <a:r>
              <a:rPr lang="en-US" dirty="0"/>
              <a:t>“It’s not just code… It’s </a:t>
            </a:r>
            <a:r>
              <a:rPr lang="en-US" b="1" dirty="0"/>
              <a:t>mathematics</a:t>
            </a:r>
            <a:r>
              <a:rPr lang="en-US" dirty="0"/>
              <a:t>.”</a:t>
            </a:r>
          </a:p>
          <a:p>
            <a:r>
              <a:rPr lang="en-US" dirty="0"/>
              <a:t>“Machine learning stands on </a:t>
            </a:r>
            <a:r>
              <a:rPr lang="en-US" b="1" dirty="0"/>
              <a:t>four mathematical pillars</a:t>
            </a:r>
            <a:r>
              <a:rPr lang="en-US" dirty="0"/>
              <a:t>.”</a:t>
            </a:r>
          </a:p>
          <a:p>
            <a:r>
              <a:rPr lang="en-US" dirty="0"/>
              <a:t>“Linear Algebra. Calculus. Probability  And Statistics.</a:t>
            </a:r>
          </a:p>
          <a:p>
            <a:r>
              <a:rPr lang="en-US" dirty="0"/>
              <a:t>“Think of them as tools. Different tools for different problems.”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Linear Algebra </a:t>
            </a:r>
            <a:r>
              <a:rPr lang="en-US" dirty="0"/>
              <a:t> helps machines represent data and find patterns.”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7EBED-4FCC-49BE-BDE5-2E953154BCE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978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Linear Algebra </a:t>
            </a:r>
            <a:r>
              <a:rPr lang="en-US" dirty="0"/>
              <a:t> helps machines represent data and find patterns.”</a:t>
            </a:r>
          </a:p>
          <a:p>
            <a:r>
              <a:rPr lang="en-US" b="1" dirty="0"/>
              <a:t>Calculus </a:t>
            </a:r>
            <a:r>
              <a:rPr lang="en-US" dirty="0"/>
              <a:t> helps models to learn and improve step by step.”</a:t>
            </a:r>
          </a:p>
          <a:p>
            <a:r>
              <a:rPr lang="en-US" b="1" dirty="0"/>
              <a:t>Probability </a:t>
            </a:r>
            <a:r>
              <a:rPr lang="en-US" dirty="0"/>
              <a:t> helps models to handle uncertainty and make predictions.”</a:t>
            </a:r>
          </a:p>
          <a:p>
            <a:r>
              <a:rPr lang="en-US" b="1" dirty="0"/>
              <a:t>Statistics </a:t>
            </a:r>
            <a:r>
              <a:rPr lang="en-US" dirty="0"/>
              <a:t>helps us to understand data and check if models work.</a:t>
            </a:r>
          </a:p>
          <a:p>
            <a:endParaRPr lang="en-US" dirty="0"/>
          </a:p>
          <a:p>
            <a:r>
              <a:rPr lang="en-US" dirty="0"/>
              <a:t>“If you really want to understand machine learning,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7EBED-4FCC-49BE-BDE5-2E953154BCE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599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“If you really want to understand machine learning,</a:t>
            </a:r>
            <a:br>
              <a:rPr lang="en-US" dirty="0"/>
            </a:br>
            <a:r>
              <a:rPr lang="en-US" dirty="0"/>
              <a:t>you need to understand its mathematics.”</a:t>
            </a:r>
          </a:p>
          <a:p>
            <a:r>
              <a:rPr lang="en-US" dirty="0"/>
              <a:t>“See you in the session.</a:t>
            </a:r>
            <a:br>
              <a:rPr lang="en-US" dirty="0"/>
            </a:br>
            <a:r>
              <a:rPr lang="en-US" dirty="0"/>
              <a:t>Training details are in the description below.”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7EBED-4FCC-49BE-BDE5-2E953154BCE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455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6F157-4E2D-7864-9C03-2A04B2B0F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25552-DD12-551F-F340-54D776B72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42835-0CA1-6BA9-AA43-2FD480B98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Linear Algebra </a:t>
            </a:r>
            <a:r>
              <a:rPr lang="en-US" dirty="0"/>
              <a:t> helps machines represent data and find patterns.”</a:t>
            </a:r>
          </a:p>
          <a:p>
            <a:r>
              <a:rPr lang="en-US" b="1" dirty="0"/>
              <a:t>Calculus </a:t>
            </a:r>
            <a:r>
              <a:rPr lang="en-US" dirty="0"/>
              <a:t> helps models to learn and improve step by step.”</a:t>
            </a:r>
          </a:p>
          <a:p>
            <a:r>
              <a:rPr lang="en-US" b="1" dirty="0"/>
              <a:t>Probability </a:t>
            </a:r>
            <a:r>
              <a:rPr lang="en-US" dirty="0"/>
              <a:t> helps models to handle uncertainty and make predictions.”</a:t>
            </a:r>
          </a:p>
          <a:p>
            <a:r>
              <a:rPr lang="en-US" b="1" dirty="0"/>
              <a:t>Statistics </a:t>
            </a:r>
            <a:r>
              <a:rPr lang="en-US" dirty="0"/>
              <a:t>helps us to understand data and check if models work.</a:t>
            </a:r>
          </a:p>
          <a:p>
            <a:endParaRPr lang="en-US" dirty="0"/>
          </a:p>
          <a:p>
            <a:r>
              <a:rPr lang="en-US" dirty="0"/>
              <a:t>“If you really want to understand machine learning,</a:t>
            </a: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FB61A1-5428-EAA5-F605-E832D17678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E7EBED-4FCC-49BE-BDE5-2E953154BCE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90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D04D6-23D4-2008-B1AC-DBECDB4F3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13457B9-63B9-8C59-C912-2F820124C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2"/>
                </a:solidFill>
              </a:rPr>
              <a:t>Mathematics </a:t>
            </a:r>
            <a:r>
              <a:rPr lang="en-US" sz="3200" b="1" dirty="0">
                <a:solidFill>
                  <a:schemeClr val="tx2"/>
                </a:solidFill>
              </a:rPr>
              <a:t>for</a:t>
            </a:r>
            <a:r>
              <a:rPr sz="3200" b="1" dirty="0">
                <a:solidFill>
                  <a:schemeClr val="tx2"/>
                </a:solidFill>
              </a:rPr>
              <a:t> Machine Learning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E42282-EF15-EEA3-3AA7-47EB8479A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827" y="1181687"/>
            <a:ext cx="8440615" cy="53543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Video 11">
            <a:hlinkClick r:id="" action="ppaction://media"/>
            <a:extLst>
              <a:ext uri="{FF2B5EF4-FFF2-40B4-BE49-F238E27FC236}">
                <a16:creationId xmlns:a16="http://schemas.microsoft.com/office/drawing/2014/main" id="{92DBC55C-1CF1-2088-BC7B-2A203C2A4D8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7588289" y="5303883"/>
            <a:ext cx="1224000" cy="1224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909871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4"/>
    </mc:Choice>
    <mc:Fallback>
      <p:transition spd="slow" advTm="10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chemeClr val="accent1">
                <a:lumMod val="5000"/>
                <a:lumOff val="95000"/>
              </a:schemeClr>
            </a:gs>
            <a:gs pos="100000">
              <a:srgbClr val="F9F9F6"/>
            </a:gs>
            <a:gs pos="17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>
            <a:extLst>
              <a:ext uri="{FF2B5EF4-FFF2-40B4-BE49-F238E27FC236}">
                <a16:creationId xmlns:a16="http://schemas.microsoft.com/office/drawing/2014/main" id="{F18F839B-E79A-E3E0-C2C8-32813AFE43DD}"/>
              </a:ext>
            </a:extLst>
          </p:cNvPr>
          <p:cNvSpPr txBox="1">
            <a:spLocks/>
          </p:cNvSpPr>
          <p:nvPr/>
        </p:nvSpPr>
        <p:spPr>
          <a:xfrm>
            <a:off x="0" y="-30066"/>
            <a:ext cx="9144000" cy="910889"/>
          </a:xfrm>
          <a:prstGeom prst="rect">
            <a:avLst/>
          </a:prstGeom>
          <a:solidFill>
            <a:srgbClr val="EDEBDF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chemeClr val="tx2"/>
                </a:solidFill>
              </a:rPr>
              <a:t>Mathematics for Machine Learning</a:t>
            </a:r>
          </a:p>
        </p:txBody>
      </p:sp>
      <p:pic>
        <p:nvPicPr>
          <p:cNvPr id="5" name="Video 4">
            <a:hlinkClick r:id="" action="ppaction://media"/>
            <a:extLst>
              <a:ext uri="{FF2B5EF4-FFF2-40B4-BE49-F238E27FC236}">
                <a16:creationId xmlns:a16="http://schemas.microsoft.com/office/drawing/2014/main" id="{E65B53D7-7D27-76EB-F5AF-8B14A5E12AA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5251" r="5251"/>
          <a:stretch>
            <a:fillRect/>
          </a:stretch>
        </p:blipFill>
        <p:spPr>
          <a:xfrm>
            <a:off x="0" y="1028700"/>
            <a:ext cx="9144000" cy="5747004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94100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854"/>
    </mc:Choice>
    <mc:Fallback>
      <p:transition spd="slow" advTm="2085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B032916-040C-B2C6-7DD8-435EB56CA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2"/>
                </a:solidFill>
              </a:rPr>
              <a:t>Mathematics </a:t>
            </a:r>
            <a:r>
              <a:rPr lang="en-US" sz="3200" b="1" dirty="0">
                <a:solidFill>
                  <a:schemeClr val="tx2"/>
                </a:solidFill>
              </a:rPr>
              <a:t>for</a:t>
            </a:r>
            <a:r>
              <a:rPr sz="3200" b="1" dirty="0">
                <a:solidFill>
                  <a:schemeClr val="tx2"/>
                </a:solidFill>
              </a:rPr>
              <a:t> Machine Learning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86A466-CA86-8390-0328-905BACDDEE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827" y="1181687"/>
            <a:ext cx="8440615" cy="53543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Video 4">
            <a:hlinkClick r:id="" action="ppaction://media"/>
            <a:extLst>
              <a:ext uri="{FF2B5EF4-FFF2-40B4-BE49-F238E27FC236}">
                <a16:creationId xmlns:a16="http://schemas.microsoft.com/office/drawing/2014/main" id="{3B51951C-60B0-C67B-9409-6D9AF8E4741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7540173" y="5300661"/>
            <a:ext cx="1224000" cy="1224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691980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9626"/>
    </mc:Choice>
    <mc:Fallback>
      <p:transition spd="slow" advTm="196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8C1C3-1820-A935-0445-7FA6BE7F0ED7}"/>
              </a:ext>
            </a:extLst>
          </p:cNvPr>
          <p:cNvSpPr txBox="1">
            <a:spLocks/>
          </p:cNvSpPr>
          <p:nvPr/>
        </p:nvSpPr>
        <p:spPr>
          <a:xfrm>
            <a:off x="0" y="-30066"/>
            <a:ext cx="9144000" cy="910889"/>
          </a:xfrm>
          <a:prstGeom prst="rect">
            <a:avLst/>
          </a:prstGeom>
          <a:solidFill>
            <a:srgbClr val="EDEBDF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chemeClr val="tx2"/>
                </a:solidFill>
              </a:rPr>
              <a:t>Mathematics for Machine Learning</a:t>
            </a:r>
          </a:p>
        </p:txBody>
      </p:sp>
      <p:pic>
        <p:nvPicPr>
          <p:cNvPr id="6" name="Video 5">
            <a:hlinkClick r:id="" action="ppaction://media"/>
            <a:extLst>
              <a:ext uri="{FF2B5EF4-FFF2-40B4-BE49-F238E27FC236}">
                <a16:creationId xmlns:a16="http://schemas.microsoft.com/office/drawing/2014/main" id="{B8552756-CF3A-E123-781D-CE1372EFB9C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5"/>
          <a:srcRect l="6373" r="6373"/>
          <a:stretch>
            <a:fillRect/>
          </a:stretch>
        </p:blipFill>
        <p:spPr>
          <a:xfrm>
            <a:off x="0" y="963119"/>
            <a:ext cx="9144000" cy="589488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0559302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228"/>
    </mc:Choice>
    <mc:Fallback>
      <p:transition spd="slow" advTm="822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C3613-028C-075D-9002-CA2EEDB6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4EEEA80-35ED-7904-2C2A-ED476D678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066"/>
            <a:ext cx="9144000" cy="910889"/>
          </a:xfrm>
          <a:solidFill>
            <a:srgbClr val="EDEBDF"/>
          </a:solidFill>
        </p:spPr>
        <p:txBody>
          <a:bodyPr>
            <a:normAutofit/>
          </a:bodyPr>
          <a:lstStyle/>
          <a:p>
            <a:r>
              <a:rPr sz="3200" b="1" dirty="0">
                <a:solidFill>
                  <a:schemeClr val="tx2"/>
                </a:solidFill>
              </a:rPr>
              <a:t>Mathematics </a:t>
            </a:r>
            <a:r>
              <a:rPr lang="en-US" sz="3200" b="1" dirty="0">
                <a:solidFill>
                  <a:schemeClr val="tx2"/>
                </a:solidFill>
              </a:rPr>
              <a:t>for</a:t>
            </a:r>
            <a:r>
              <a:rPr sz="3200" b="1" dirty="0">
                <a:solidFill>
                  <a:schemeClr val="tx2"/>
                </a:solidFill>
              </a:rPr>
              <a:t> Machine Learning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84A147-4ADF-7349-70F7-563E254959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827" y="1181687"/>
            <a:ext cx="8440615" cy="535434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Video 14">
            <a:hlinkClick r:id="" action="ppaction://media"/>
            <a:extLst>
              <a:ext uri="{FF2B5EF4-FFF2-40B4-BE49-F238E27FC236}">
                <a16:creationId xmlns:a16="http://schemas.microsoft.com/office/drawing/2014/main" id="{F457C355-90AF-85AD-C34D-EC84EE244DF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rcRect l="21875" r="21875"/>
          <a:stretch>
            <a:fillRect/>
          </a:stretch>
        </p:blipFill>
        <p:spPr>
          <a:xfrm>
            <a:off x="7540173" y="5312036"/>
            <a:ext cx="1224000" cy="12240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410264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996"/>
    </mc:Choice>
    <mc:Fallback>
      <p:transition spd="slow" advTm="399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2327</TotalTime>
  <Words>288</Words>
  <Application>Microsoft Office PowerPoint</Application>
  <PresentationFormat>On-screen Show (4:3)</PresentationFormat>
  <Paragraphs>41</Paragraphs>
  <Slides>5</Slides>
  <Notes>5</Notes>
  <HiddenSlides>0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Mathematics for Machine Learning</vt:lpstr>
      <vt:lpstr>PowerPoint Presentation</vt:lpstr>
      <vt:lpstr>Mathematics for Machine Learning</vt:lpstr>
      <vt:lpstr>PowerPoint Presentation</vt:lpstr>
      <vt:lpstr>Mathematics for Machine Learning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Satyajit</dc:creator>
  <cp:keywords/>
  <dc:description>generated using python-pptx</dc:description>
  <cp:lastModifiedBy>satyajit joshi</cp:lastModifiedBy>
  <cp:revision>171</cp:revision>
  <dcterms:created xsi:type="dcterms:W3CDTF">2013-01-27T09:14:16Z</dcterms:created>
  <dcterms:modified xsi:type="dcterms:W3CDTF">2026-01-15T12:35:16Z</dcterms:modified>
  <cp:category/>
</cp:coreProperties>
</file>